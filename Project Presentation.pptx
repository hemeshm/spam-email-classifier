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310" r:id="rId2"/>
    <p:sldId id="261" r:id="rId3"/>
    <p:sldId id="292" r:id="rId4"/>
    <p:sldId id="293" r:id="rId5"/>
    <p:sldId id="294" r:id="rId6"/>
    <p:sldId id="295" r:id="rId7"/>
    <p:sldId id="260" r:id="rId8"/>
    <p:sldId id="286" r:id="rId9"/>
    <p:sldId id="287" r:id="rId10"/>
    <p:sldId id="312" r:id="rId11"/>
    <p:sldId id="313" r:id="rId12"/>
    <p:sldId id="314" r:id="rId13"/>
    <p:sldId id="315" r:id="rId14"/>
    <p:sldId id="311" r:id="rId15"/>
    <p:sldId id="307" r:id="rId16"/>
    <p:sldId id="301" r:id="rId17"/>
    <p:sldId id="276" r:id="rId18"/>
    <p:sldId id="268" r:id="rId19"/>
    <p:sldId id="271" r:id="rId20"/>
    <p:sldId id="272" r:id="rId21"/>
    <p:sldId id="269" r:id="rId22"/>
    <p:sldId id="270" r:id="rId23"/>
    <p:sldId id="305" r:id="rId24"/>
    <p:sldId id="304" r:id="rId25"/>
    <p:sldId id="308" r:id="rId26"/>
    <p:sldId id="277" r:id="rId27"/>
    <p:sldId id="257" r:id="rId28"/>
    <p:sldId id="280" r:id="rId29"/>
    <p:sldId id="282" r:id="rId30"/>
    <p:sldId id="278" r:id="rId31"/>
    <p:sldId id="279" r:id="rId32"/>
    <p:sldId id="316" r:id="rId33"/>
    <p:sldId id="302" r:id="rId34"/>
    <p:sldId id="300" r:id="rId35"/>
    <p:sldId id="298" r:id="rId36"/>
    <p:sldId id="259" r:id="rId3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46A42310-51A0-477A-8344-C7ABAFC3DC8D}">
          <p14:sldIdLst>
            <p14:sldId id="310"/>
            <p14:sldId id="261"/>
            <p14:sldId id="292"/>
            <p14:sldId id="293"/>
            <p14:sldId id="294"/>
            <p14:sldId id="295"/>
            <p14:sldId id="260"/>
            <p14:sldId id="286"/>
            <p14:sldId id="287"/>
            <p14:sldId id="312"/>
            <p14:sldId id="313"/>
            <p14:sldId id="314"/>
            <p14:sldId id="315"/>
            <p14:sldId id="311"/>
            <p14:sldId id="307"/>
            <p14:sldId id="301"/>
            <p14:sldId id="276"/>
            <p14:sldId id="268"/>
            <p14:sldId id="271"/>
            <p14:sldId id="272"/>
            <p14:sldId id="269"/>
            <p14:sldId id="270"/>
            <p14:sldId id="305"/>
            <p14:sldId id="304"/>
            <p14:sldId id="308"/>
            <p14:sldId id="277"/>
            <p14:sldId id="257"/>
            <p14:sldId id="280"/>
            <p14:sldId id="282"/>
            <p14:sldId id="278"/>
            <p14:sldId id="279"/>
            <p14:sldId id="316"/>
            <p14:sldId id="302"/>
            <p14:sldId id="300"/>
            <p14:sldId id="29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11716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9"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https://skilldzire.com/"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99DA-60E6-F035-FBD5-D867855EFBB1}"/>
            </a:ext>
          </a:extLst>
        </p:cNvPr>
        <p:cNvGrpSpPr/>
        <p:nvPr/>
      </p:nvGrpSpPr>
      <p:grpSpPr>
        <a:xfrm>
          <a:off x="0" y="0"/>
          <a:ext cx="0" cy="0"/>
          <a:chOff x="0" y="0"/>
          <a:chExt cx="0" cy="0"/>
        </a:xfrm>
      </p:grpSpPr>
      <p:sp>
        <p:nvSpPr>
          <p:cNvPr id="1048586" name="Rectangle 1">
            <a:extLst>
              <a:ext uri="{FF2B5EF4-FFF2-40B4-BE49-F238E27FC236}">
                <a16:creationId xmlns:a16="http://schemas.microsoft.com/office/drawing/2014/main" id="{A143A8A0-BC5B-9FA5-20C4-F0B0FB61FAB4}"/>
              </a:ext>
            </a:extLst>
          </p:cNvPr>
          <p:cNvSpPr>
            <a:spLocks noChangeArrowheads="1"/>
          </p:cNvSpPr>
          <p:nvPr/>
        </p:nvSpPr>
        <p:spPr bwMode="auto">
          <a:xfrm>
            <a:off x="1524000" y="533401"/>
            <a:ext cx="9144000" cy="830997"/>
          </a:xfrm>
          <a:prstGeom prst="rect">
            <a:avLst/>
          </a:prstGeom>
          <a:noFill/>
          <a:ln w="9525">
            <a:noFill/>
            <a:miter lim="800000"/>
          </a:ln>
          <a:effectLst/>
        </p:spPr>
        <p:txBody>
          <a:bodyPr vert="horz" wrap="square" lIns="91440" tIns="45720" rIns="91440" bIns="45720" numCol="1" anchor="ctr" anchorCtr="0" compatLnSpc="1">
            <a:spAutoFit/>
          </a:bodyPr>
          <a:lstStyle/>
          <a:p>
            <a:pPr algn="ctr" fontAlgn="base" hangingPunct="1">
              <a:spcBef>
                <a:spcPct val="0"/>
              </a:spcBef>
              <a:spcAft>
                <a:spcPct val="0"/>
              </a:spcAft>
            </a:pPr>
            <a:r>
              <a:rPr lang="en-US" sz="1600" b="1" dirty="0">
                <a:solidFill>
                  <a:schemeClr val="tx1"/>
                </a:solidFill>
                <a:latin typeface="Times New Roman" pitchFamily="18" charset="0"/>
                <a:ea typeface="Calibri" panose="020F0502020204030204" pitchFamily="34" charset="0"/>
                <a:cs typeface="Times New Roman" pitchFamily="18" charset="0"/>
              </a:rPr>
              <a:t>           SREENIVASA INSTITUTE OF TECHNOLOGY AND  MANAGEMENT STUDIES</a:t>
            </a:r>
          </a:p>
          <a:p>
            <a:pPr lvl="0" algn="ctr" eaLnBrk="0" fontAlgn="base" hangingPunct="0">
              <a:spcBef>
                <a:spcPct val="0"/>
              </a:spcBef>
              <a:spcAft>
                <a:spcPct val="0"/>
              </a:spcAft>
            </a:pPr>
            <a:r>
              <a:rPr lang="en-US" sz="1600" dirty="0">
                <a:latin typeface="Times New Roman" pitchFamily="18" charset="0"/>
                <a:ea typeface="Calibri" panose="020F0502020204030204" pitchFamily="34" charset="0"/>
                <a:cs typeface="Times New Roman" pitchFamily="18" charset="0"/>
              </a:rPr>
              <a:t>                </a:t>
            </a:r>
            <a:r>
              <a:rPr lang="en-US" sz="1600" b="1" dirty="0">
                <a:latin typeface="Times New Roman" pitchFamily="18" charset="0"/>
                <a:ea typeface="Calibri" panose="020F0502020204030204" pitchFamily="34" charset="0"/>
                <a:cs typeface="Times New Roman" pitchFamily="18" charset="0"/>
              </a:rPr>
              <a:t>(Approved by AICTE &amp; Affiliated to JNTUA, </a:t>
            </a:r>
            <a:r>
              <a:rPr lang="en-US" sz="1600" b="1" dirty="0" err="1">
                <a:latin typeface="Times New Roman" pitchFamily="18" charset="0"/>
                <a:ea typeface="Calibri" panose="020F0502020204030204" pitchFamily="34" charset="0"/>
                <a:cs typeface="Times New Roman" pitchFamily="18" charset="0"/>
              </a:rPr>
              <a:t>Ananthapuramu</a:t>
            </a:r>
            <a:r>
              <a:rPr lang="en-US" sz="1600" b="1" dirty="0">
                <a:latin typeface="Times New Roman" pitchFamily="18" charset="0"/>
                <a:ea typeface="Calibri" panose="020F0502020204030204" pitchFamily="34" charset="0"/>
                <a:cs typeface="Times New Roman" pitchFamily="18" charset="0"/>
              </a:rPr>
              <a:t>)</a:t>
            </a:r>
          </a:p>
          <a:p>
            <a:pPr lvl="0" algn="ctr" eaLnBrk="0" fontAlgn="base" hangingPunct="0">
              <a:spcBef>
                <a:spcPct val="0"/>
              </a:spcBef>
              <a:spcAft>
                <a:spcPct val="0"/>
              </a:spcAft>
            </a:pPr>
            <a:r>
              <a:rPr lang="en-US" sz="1600" b="1" dirty="0" err="1">
                <a:latin typeface="Times New Roman" pitchFamily="18" charset="0"/>
                <a:ea typeface="Calibri" panose="020F0502020204030204" pitchFamily="34" charset="0"/>
                <a:cs typeface="Times New Roman" pitchFamily="18" charset="0"/>
              </a:rPr>
              <a:t>Chittoor</a:t>
            </a:r>
            <a:r>
              <a:rPr lang="en-US" sz="1600" b="1" dirty="0">
                <a:latin typeface="Times New Roman" pitchFamily="18" charset="0"/>
                <a:ea typeface="Calibri" panose="020F0502020204030204" pitchFamily="34" charset="0"/>
                <a:cs typeface="Times New Roman" pitchFamily="18" charset="0"/>
              </a:rPr>
              <a:t>, A.P-517127.</a:t>
            </a:r>
            <a:endParaRPr lang="en-US" sz="1600" dirty="0">
              <a:solidFill>
                <a:schemeClr val="tx1"/>
              </a:solidFill>
              <a:latin typeface="Times New Roman" pitchFamily="18" charset="0"/>
              <a:cs typeface="Times New Roman" pitchFamily="18" charset="0"/>
            </a:endParaRPr>
          </a:p>
        </p:txBody>
      </p:sp>
      <p:sp>
        <p:nvSpPr>
          <p:cNvPr id="1048587" name="Rectangle 2">
            <a:extLst>
              <a:ext uri="{FF2B5EF4-FFF2-40B4-BE49-F238E27FC236}">
                <a16:creationId xmlns:a16="http://schemas.microsoft.com/office/drawing/2014/main" id="{39DD8ADE-E860-1611-0D9D-E5166B403B91}"/>
              </a:ext>
            </a:extLst>
          </p:cNvPr>
          <p:cNvSpPr>
            <a:spLocks noChangeArrowheads="1"/>
          </p:cNvSpPr>
          <p:nvPr/>
        </p:nvSpPr>
        <p:spPr bwMode="auto">
          <a:xfrm>
            <a:off x="2286000" y="1579602"/>
            <a:ext cx="7620000" cy="553998"/>
          </a:xfrm>
          <a:prstGeom prst="rect">
            <a:avLst/>
          </a:prstGeom>
          <a:noFill/>
          <a:ln w="9525">
            <a:noFill/>
            <a:miter lim="800000"/>
          </a:ln>
          <a:effectLst/>
        </p:spPr>
        <p:txBody>
          <a:bodyPr vert="horz" wrap="square" lIns="91440" tIns="45720" rIns="91440" bIns="45720" numCol="1" anchor="ctr" anchorCtr="0" compatLnSpc="1">
            <a:spAutoFit/>
          </a:bodyPr>
          <a:lstStyle/>
          <a:p>
            <a:pPr algn="ctr" fontAlgn="base" hangingPunct="1">
              <a:spcBef>
                <a:spcPct val="0"/>
              </a:spcBef>
              <a:spcAft>
                <a:spcPct val="0"/>
              </a:spcAft>
            </a:pPr>
            <a:r>
              <a:rPr lang="en-US" sz="1600" b="1" dirty="0">
                <a:solidFill>
                  <a:schemeClr val="tx1"/>
                </a:solidFill>
                <a:latin typeface="Times New Roman" pitchFamily="18" charset="0"/>
                <a:ea typeface="Calibri" panose="020F0502020204030204" pitchFamily="34" charset="0"/>
                <a:cs typeface="Times New Roman" pitchFamily="18" charset="0"/>
              </a:rPr>
              <a:t>DEPARTMENT OF </a:t>
            </a:r>
            <a:r>
              <a:rPr lang="en-US" sz="1600" b="1" dirty="0">
                <a:latin typeface="Times New Roman" pitchFamily="18" charset="0"/>
                <a:ea typeface="Calibri" panose="020F0502020204030204" pitchFamily="34" charset="0"/>
                <a:cs typeface="Times New Roman" pitchFamily="18" charset="0"/>
              </a:rPr>
              <a:t>COMPUTER SCIENCE AND </a:t>
            </a:r>
            <a:r>
              <a:rPr lang="en-US" sz="1600" b="1" dirty="0">
                <a:solidFill>
                  <a:schemeClr val="tx1"/>
                </a:solidFill>
                <a:latin typeface="Times New Roman" pitchFamily="18" charset="0"/>
                <a:ea typeface="Calibri" panose="020F0502020204030204" pitchFamily="34" charset="0"/>
                <a:cs typeface="Times New Roman" pitchFamily="18" charset="0"/>
              </a:rPr>
              <a:t>ENGINEERING</a:t>
            </a:r>
            <a:endParaRPr lang="en-US" sz="900" b="1" dirty="0">
              <a:solidFill>
                <a:schemeClr val="tx1"/>
              </a:solidFill>
              <a:latin typeface="Times New Roman" pitchFamily="18" charset="0"/>
              <a:cs typeface="Times New Roman" pitchFamily="18" charset="0"/>
            </a:endParaRPr>
          </a:p>
          <a:p>
            <a:pPr algn="ctr" eaLnBrk="0" fontAlgn="base">
              <a:spcBef>
                <a:spcPct val="0"/>
              </a:spcBef>
              <a:spcAft>
                <a:spcPct val="0"/>
              </a:spcAft>
            </a:pPr>
            <a:r>
              <a:rPr lang="en-US" sz="1400" b="1" dirty="0">
                <a:solidFill>
                  <a:schemeClr val="tx1"/>
                </a:solidFill>
                <a:latin typeface="Times New Roman" pitchFamily="18" charset="0"/>
                <a:ea typeface="Calibri" panose="020F0502020204030204" pitchFamily="34" charset="0"/>
                <a:cs typeface="Times New Roman" pitchFamily="18" charset="0"/>
              </a:rPr>
              <a:t>(2025-26)</a:t>
            </a:r>
            <a:endParaRPr lang="en-US" sz="2000" dirty="0">
              <a:solidFill>
                <a:schemeClr val="tx1"/>
              </a:solidFill>
              <a:latin typeface="Times New Roman" pitchFamily="18" charset="0"/>
              <a:cs typeface="Times New Roman" pitchFamily="18" charset="0"/>
            </a:endParaRPr>
          </a:p>
        </p:txBody>
      </p:sp>
      <p:pic>
        <p:nvPicPr>
          <p:cNvPr id="2097152" name="Picture 5">
            <a:extLst>
              <a:ext uri="{FF2B5EF4-FFF2-40B4-BE49-F238E27FC236}">
                <a16:creationId xmlns:a16="http://schemas.microsoft.com/office/drawing/2014/main" id="{6DADD538-1A2E-D814-71A3-E516C97487E1}"/>
              </a:ext>
            </a:extLst>
          </p:cNvPr>
          <p:cNvPicPr/>
          <p:nvPr/>
        </p:nvPicPr>
        <p:blipFill>
          <a:blip r:embed="rId3"/>
          <a:srcRect/>
          <a:stretch>
            <a:fillRect/>
          </a:stretch>
        </p:blipFill>
        <p:spPr bwMode="auto">
          <a:xfrm>
            <a:off x="1752600" y="685801"/>
            <a:ext cx="685800" cy="1043351"/>
          </a:xfrm>
          <a:prstGeom prst="rect">
            <a:avLst/>
          </a:prstGeom>
          <a:noFill/>
          <a:ln w="9525">
            <a:noFill/>
            <a:miter lim="800000"/>
            <a:headEnd/>
            <a:tailEnd/>
          </a:ln>
        </p:spPr>
      </p:pic>
      <p:graphicFrame>
        <p:nvGraphicFramePr>
          <p:cNvPr id="4194304" name="Table 6">
            <a:extLst>
              <a:ext uri="{FF2B5EF4-FFF2-40B4-BE49-F238E27FC236}">
                <a16:creationId xmlns:a16="http://schemas.microsoft.com/office/drawing/2014/main" id="{A4A27601-AB9B-B267-2632-0A1A27045577}"/>
              </a:ext>
            </a:extLst>
          </p:cNvPr>
          <p:cNvGraphicFramePr>
            <a:graphicFrameLocks noGrp="1"/>
          </p:cNvGraphicFramePr>
          <p:nvPr>
            <p:extLst>
              <p:ext uri="{D42A27DB-BD31-4B8C-83A1-F6EECF244321}">
                <p14:modId xmlns:p14="http://schemas.microsoft.com/office/powerpoint/2010/main" val="3131653217"/>
              </p:ext>
            </p:extLst>
          </p:nvPr>
        </p:nvGraphicFramePr>
        <p:xfrm>
          <a:off x="3330342" y="4201052"/>
          <a:ext cx="4446872" cy="609600"/>
        </p:xfrm>
        <a:graphic>
          <a:graphicData uri="http://schemas.openxmlformats.org/drawingml/2006/table">
            <a:tbl>
              <a:tblPr/>
              <a:tblGrid>
                <a:gridCol w="2262443">
                  <a:extLst>
                    <a:ext uri="{9D8B030D-6E8A-4147-A177-3AD203B41FA5}">
                      <a16:colId xmlns:a16="http://schemas.microsoft.com/office/drawing/2014/main" val="20000"/>
                    </a:ext>
                  </a:extLst>
                </a:gridCol>
                <a:gridCol w="2184429">
                  <a:extLst>
                    <a:ext uri="{9D8B030D-6E8A-4147-A177-3AD203B41FA5}">
                      <a16:colId xmlns:a16="http://schemas.microsoft.com/office/drawing/2014/main" val="20001"/>
                    </a:ext>
                  </a:extLst>
                </a:gridCol>
              </a:tblGrid>
              <a:tr h="609600">
                <a:tc>
                  <a:txBody>
                    <a:bodyPr/>
                    <a:lstStyle/>
                    <a:p>
                      <a:pPr marL="0" marR="0">
                        <a:lnSpc>
                          <a:spcPct val="115000"/>
                        </a:lnSpc>
                        <a:spcBef>
                          <a:spcPts val="0"/>
                        </a:spcBef>
                        <a:spcAft>
                          <a:spcPts val="0"/>
                        </a:spcAft>
                      </a:pPr>
                      <a:r>
                        <a:rPr lang="en-US" sz="1400" b="1" dirty="0">
                          <a:latin typeface="Times New Roman" panose="02020603050405020304"/>
                          <a:ea typeface="Calibri" panose="020F0502020204030204"/>
                          <a:cs typeface="Times New Roman" panose="02020603050405020304"/>
                        </a:rPr>
                        <a:t>M HEMESH</a:t>
                      </a:r>
                      <a:endParaRPr lang="en-US" sz="1200" dirty="0">
                        <a:latin typeface="Calibri" panose="020F05020202040302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marL="0" marR="0" algn="r">
                        <a:lnSpc>
                          <a:spcPct val="115000"/>
                        </a:lnSpc>
                        <a:spcBef>
                          <a:spcPts val="0"/>
                        </a:spcBef>
                        <a:spcAft>
                          <a:spcPts val="0"/>
                        </a:spcAft>
                      </a:pPr>
                      <a:r>
                        <a:rPr lang="en-US" sz="1400" b="1" dirty="0">
                          <a:latin typeface="Times New Roman" panose="02020603050405020304"/>
                          <a:ea typeface="Calibri" panose="020F0502020204030204"/>
                          <a:cs typeface="Times New Roman" panose="02020603050405020304"/>
                        </a:rPr>
                        <a:t>22751A0584</a:t>
                      </a:r>
                      <a:endParaRPr lang="en-US" sz="1200" dirty="0">
                        <a:latin typeface="Calibri" panose="020F0502020204030204"/>
                        <a:ea typeface="Calibri" panose="020F0502020204030204"/>
                        <a:cs typeface="Times New Roman" panose="02020603050405020304"/>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1048588" name="Rectangle 3">
            <a:extLst>
              <a:ext uri="{FF2B5EF4-FFF2-40B4-BE49-F238E27FC236}">
                <a16:creationId xmlns:a16="http://schemas.microsoft.com/office/drawing/2014/main" id="{A15D770F-D2FC-4AD1-C47E-84696070F68E}"/>
              </a:ext>
            </a:extLst>
          </p:cNvPr>
          <p:cNvSpPr>
            <a:spLocks noChangeArrowheads="1"/>
          </p:cNvSpPr>
          <p:nvPr/>
        </p:nvSpPr>
        <p:spPr bwMode="auto">
          <a:xfrm>
            <a:off x="1524000" y="2426493"/>
            <a:ext cx="9144000" cy="1077218"/>
          </a:xfrm>
          <a:prstGeom prst="rect">
            <a:avLst/>
          </a:prstGeom>
          <a:noFill/>
          <a:ln w="9525">
            <a:noFill/>
            <a:miter lim="800000"/>
          </a:ln>
          <a:effectLst/>
        </p:spPr>
        <p:txBody>
          <a:bodyPr vert="horz" wrap="square" lIns="91440" tIns="45720" rIns="91440" bIns="45720" numCol="1" anchor="ctr" anchorCtr="0" compatLnSpc="1">
            <a:spAutoFit/>
          </a:bodyPr>
          <a:lstStyle/>
          <a:p>
            <a:pPr algn="ctr" fontAlgn="base" hangingPunct="1">
              <a:spcBef>
                <a:spcPct val="0"/>
              </a:spcBef>
              <a:spcAft>
                <a:spcPct val="0"/>
              </a:spcAft>
            </a:pPr>
            <a:r>
              <a:rPr lang="en-US" sz="1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 INTERNSHIP PROJECT REVIEW</a:t>
            </a:r>
          </a:p>
          <a:p>
            <a:pPr algn="ctr" fontAlgn="base" hangingPunct="1">
              <a:spcBef>
                <a:spcPct val="0"/>
              </a:spcBef>
              <a:spcAft>
                <a:spcPct val="0"/>
              </a:spcAft>
            </a:pPr>
            <a:endParaRPr lang="en-US" sz="1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ctr" fontAlgn="base" hangingPunct="1">
              <a:spcBef>
                <a:spcPct val="0"/>
              </a:spcBef>
              <a:spcAft>
                <a:spcPct val="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on</a:t>
            </a:r>
            <a:endParaRPr lang="en-US" sz="1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ctr" fontAlgn="base" hangingPunct="1">
              <a:spcBef>
                <a:spcPct val="0"/>
              </a:spcBef>
              <a:spcAft>
                <a:spcPct val="0"/>
              </a:spcAft>
            </a:pPr>
            <a:endParaRPr lang="en-US" sz="800" dirty="0">
              <a:solidFill>
                <a:schemeClr val="tx1"/>
              </a:solidFill>
              <a:latin typeface="Arial" panose="020B0604020202020204" pitchFamily="34" charset="0"/>
              <a:cs typeface="Arial" panose="020B0604020202020204" pitchFamily="34" charset="0"/>
            </a:endParaRPr>
          </a:p>
          <a:p>
            <a:pPr lvl="0" algn="ctr" eaLnBrk="0" fontAlgn="base" hangingPunct="0">
              <a:spcBef>
                <a:spcPct val="0"/>
              </a:spcBef>
              <a:spcAft>
                <a:spcPct val="0"/>
              </a:spcAft>
            </a:pPr>
            <a:r>
              <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ARTIFICIAL INTELLIGENCE</a:t>
            </a:r>
          </a:p>
        </p:txBody>
      </p:sp>
      <p:sp>
        <p:nvSpPr>
          <p:cNvPr id="1048590" name="Text Placeholder 16">
            <a:extLst>
              <a:ext uri="{FF2B5EF4-FFF2-40B4-BE49-F238E27FC236}">
                <a16:creationId xmlns:a16="http://schemas.microsoft.com/office/drawing/2014/main" id="{C6CF693F-C41C-9FF6-E564-55478A9A860C}"/>
              </a:ext>
            </a:extLst>
          </p:cNvPr>
          <p:cNvSpPr>
            <a:spLocks noGrp="1"/>
          </p:cNvSpPr>
          <p:nvPr>
            <p:ph type="body" idx="1"/>
          </p:nvPr>
        </p:nvSpPr>
        <p:spPr>
          <a:xfrm>
            <a:off x="2286000" y="4610100"/>
            <a:ext cx="7772400" cy="1562099"/>
          </a:xfrm>
        </p:spPr>
        <p:txBody>
          <a:bodyPr>
            <a:noAutofit/>
          </a:bodyPr>
          <a:lstStyle/>
          <a:p>
            <a:pPr algn="ct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Under the guidance of</a:t>
            </a:r>
          </a:p>
          <a:p>
            <a:pPr algn="ct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Mr. Pandreti Praveen MCA., M. Tech.,</a:t>
            </a:r>
            <a:endParaRPr lang="en-US" sz="1400" dirty="0"/>
          </a:p>
          <a:p>
            <a:pPr algn="ct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Assistant Professor,</a:t>
            </a:r>
          </a:p>
          <a:p>
            <a:pPr algn="ct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p>
          <a:p>
            <a:pPr algn="ct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Sreenivasa Institute of Technology and Management Studies, Chittoor, A.P.</a:t>
            </a:r>
          </a:p>
        </p:txBody>
      </p:sp>
      <p:sp>
        <p:nvSpPr>
          <p:cNvPr id="9" name="Rectangle 8">
            <a:extLst>
              <a:ext uri="{FF2B5EF4-FFF2-40B4-BE49-F238E27FC236}">
                <a16:creationId xmlns:a16="http://schemas.microsoft.com/office/drawing/2014/main" id="{E7A657EA-67ED-F034-A470-FB6873169643}"/>
              </a:ext>
            </a:extLst>
          </p:cNvPr>
          <p:cNvSpPr/>
          <p:nvPr/>
        </p:nvSpPr>
        <p:spPr>
          <a:xfrm>
            <a:off x="5874580" y="3685401"/>
            <a:ext cx="401072" cy="338554"/>
          </a:xfrm>
          <a:prstGeom prst="rect">
            <a:avLst/>
          </a:prstGeom>
        </p:spPr>
        <p:txBody>
          <a:bodyPr wrap="none">
            <a:spAutoFit/>
          </a:bodyPr>
          <a:lstStyle/>
          <a:p>
            <a:pPr lvl="0" algn="ctr" fontAlgn="base">
              <a:spcBef>
                <a:spcPct val="0"/>
              </a:spcBef>
              <a:spcAft>
                <a:spcPct val="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by</a:t>
            </a:r>
          </a:p>
        </p:txBody>
      </p:sp>
      <p:sp>
        <p:nvSpPr>
          <p:cNvPr id="10"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
        <p:nvSpPr>
          <p:cNvPr id="2" name="Slide Number Placeholder 1"/>
          <p:cNvSpPr>
            <a:spLocks noGrp="1"/>
          </p:cNvSpPr>
          <p:nvPr>
            <p:ph type="sldNum" sz="quarter" idx="2"/>
          </p:nvPr>
        </p:nvSpPr>
        <p:spPr>
          <a:xfrm>
            <a:off x="11095176" y="6502400"/>
            <a:ext cx="258624" cy="248305"/>
          </a:xfrm>
        </p:spPr>
        <p:txBody>
          <a:bodyPr/>
          <a:lstStyle/>
          <a:p>
            <a:fld id="{86CB4B4D-7CA3-9044-876B-883B54F8677D}" type="slidenum">
              <a:rPr lang="en-IN" smtClean="0"/>
              <a:t>1</a:t>
            </a:fld>
            <a:endParaRPr lang="en-IN" dirty="0"/>
          </a:p>
        </p:txBody>
      </p:sp>
    </p:spTree>
    <p:extLst>
      <p:ext uri="{BB962C8B-B14F-4D97-AF65-F5344CB8AC3E}">
        <p14:creationId xmlns:p14="http://schemas.microsoft.com/office/powerpoint/2010/main" val="120636478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Content</a:t>
            </a:r>
            <a:endParaRPr lang="en-IN" sz="3200" b="1" dirty="0">
              <a:latin typeface="Times New Roman" panose="02020603050405020304" pitchFamily="18" charset="0"/>
              <a:cs typeface="Times New Roman" panose="02020603050405020304" pitchFamily="18" charset="0"/>
            </a:endParaRPr>
          </a:p>
        </p:txBody>
      </p:sp>
      <p:sp>
        <p:nvSpPr>
          <p:cNvPr id="1048597" name="Content Placeholder 2"/>
          <p:cNvSpPr>
            <a:spLocks noGrp="1"/>
          </p:cNvSpPr>
          <p:nvPr>
            <p:ph idx="1"/>
          </p:nvPr>
        </p:nvSpPr>
        <p:spPr>
          <a:xfrm>
            <a:off x="1981200" y="1524000"/>
            <a:ext cx="8229600" cy="3505200"/>
          </a:xfrm>
        </p:spPr>
        <p:txBody>
          <a:bodyPr>
            <a:normAutofit/>
          </a:bodyPr>
          <a:lstStyle/>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Internship details</a:t>
            </a:r>
          </a:p>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Company details</a:t>
            </a:r>
          </a:p>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Introduction to domain</a:t>
            </a:r>
          </a:p>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List of task’s</a:t>
            </a:r>
          </a:p>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Task</a:t>
            </a:r>
          </a:p>
          <a:p>
            <a:pPr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Conclusion</a:t>
            </a:r>
          </a:p>
          <a:p>
            <a:pPr marL="514350" indent="-514350" algn="just">
              <a:buFont typeface="Wingdings" pitchFamily="2" charset="2"/>
              <a:buChar char="Ø"/>
            </a:pPr>
            <a:endParaRPr lang="en-US" sz="2700" dirty="0">
              <a:latin typeface="Times New Roman" panose="02020603050405020304" pitchFamily="18" charset="0"/>
              <a:cs typeface="Times New Roman" panose="02020603050405020304" pitchFamily="18" charset="0"/>
            </a:endParaRPr>
          </a:p>
          <a:p>
            <a:pPr marL="514350" indent="-514350" algn="just">
              <a:buFont typeface="Wingdings" pitchFamily="2" charset="2"/>
              <a:buChar char="Ø"/>
            </a:pPr>
            <a:endParaRPr lang="en-US" sz="27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5176" y="6492875"/>
            <a:ext cx="258624" cy="248305"/>
          </a:xfrm>
        </p:spPr>
        <p:txBody>
          <a:bodyPr/>
          <a:lstStyle/>
          <a:p>
            <a:fld id="{86CB4B4D-7CA3-9044-876B-883B54F8677D}" type="slidenum">
              <a:rPr lang="en-IN" smtClean="0"/>
              <a:t>2</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63012876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B3DB4-8DE8-003A-A5BE-E574B1934348}"/>
            </a:ext>
          </a:extLst>
        </p:cNvPr>
        <p:cNvGrpSpPr/>
        <p:nvPr/>
      </p:nvGrpSpPr>
      <p:grpSpPr>
        <a:xfrm>
          <a:off x="0" y="0"/>
          <a:ext cx="0" cy="0"/>
          <a:chOff x="0" y="0"/>
          <a:chExt cx="0" cy="0"/>
        </a:xfrm>
      </p:grpSpPr>
      <p:sp>
        <p:nvSpPr>
          <p:cNvPr id="190" name="Disadvantages:-">
            <a:extLst>
              <a:ext uri="{FF2B5EF4-FFF2-40B4-BE49-F238E27FC236}">
                <a16:creationId xmlns:a16="http://schemas.microsoft.com/office/drawing/2014/main" id="{770B8F96-37DF-5386-254C-61134F9B2891}"/>
              </a:ext>
            </a:extLst>
          </p:cNvPr>
          <p:cNvSpPr txBox="1">
            <a:spLocks noGrp="1"/>
          </p:cNvSpPr>
          <p:nvPr>
            <p:ph type="title"/>
          </p:nvPr>
        </p:nvSpPr>
        <p:spPr>
          <a:prstGeom prst="rect">
            <a:avLst/>
          </a:prstGeom>
        </p:spPr>
        <p:txBody>
          <a:bodyPr>
            <a:normAutofit/>
          </a:bodyPr>
          <a:lstStyle>
            <a:lvl1pPr>
              <a:defRPr spc="-200"/>
            </a:lvl1pPr>
          </a:lstStyle>
          <a:p>
            <a:pPr algn="ctr"/>
            <a:r>
              <a:rPr lang="en-US" sz="3200" b="1" dirty="0">
                <a:latin typeface="Times New Roman" panose="02020603050405020304" pitchFamily="18" charset="0"/>
                <a:cs typeface="Times New Roman" panose="02020603050405020304" pitchFamily="18" charset="0"/>
              </a:rPr>
              <a:t>Internship Details</a:t>
            </a:r>
            <a:endParaRPr lang="en-IN" sz="3200" b="1" dirty="0">
              <a:latin typeface="Times New Roman" panose="02020603050405020304" pitchFamily="18" charset="0"/>
              <a:cs typeface="Times New Roman" panose="02020603050405020304" pitchFamily="18" charset="0"/>
            </a:endParaRPr>
          </a:p>
        </p:txBody>
      </p:sp>
      <p:sp>
        <p:nvSpPr>
          <p:cNvPr id="191" name="Slide Subtitle">
            <a:extLst>
              <a:ext uri="{FF2B5EF4-FFF2-40B4-BE49-F238E27FC236}">
                <a16:creationId xmlns:a16="http://schemas.microsoft.com/office/drawing/2014/main" id="{E209D127-C508-AE8D-2B98-1CEA258ABD1F}"/>
              </a:ext>
            </a:extLst>
          </p:cNvPr>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a:extLst>
              <a:ext uri="{FF2B5EF4-FFF2-40B4-BE49-F238E27FC236}">
                <a16:creationId xmlns:a16="http://schemas.microsoft.com/office/drawing/2014/main" id="{F3A5ACB1-913C-A7CC-2C19-192ABAC25AB9}"/>
              </a:ext>
            </a:extLst>
          </p:cNvPr>
          <p:cNvSpPr txBox="1">
            <a:spLocks noGrp="1"/>
          </p:cNvSpPr>
          <p:nvPr>
            <p:ph type="body" idx="21"/>
          </p:nvPr>
        </p:nvSpPr>
        <p:spPr>
          <a:xfrm>
            <a:off x="836612" y="1690688"/>
            <a:ext cx="10518776" cy="277285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 Artificial Intelligence</a:t>
            </a:r>
          </a:p>
          <a:p>
            <a:pPr>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Company : </a:t>
            </a:r>
            <a:r>
              <a:rPr lang="en-US" sz="2400" dirty="0" err="1">
                <a:latin typeface="Times New Roman" panose="02020603050405020304" pitchFamily="18" charset="0"/>
                <a:cs typeface="Times New Roman" panose="02020603050405020304" pitchFamily="18" charset="0"/>
              </a:rPr>
              <a:t>SkillDzire</a:t>
            </a:r>
            <a:endParaRPr lang="en-US" sz="24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Duration : </a:t>
            </a:r>
            <a:r>
              <a:rPr lang="en-US" sz="2400" dirty="0">
                <a:latin typeface="Times New Roman" panose="02020603050405020304" pitchFamily="18" charset="0"/>
                <a:cs typeface="Times New Roman" panose="02020603050405020304" pitchFamily="18" charset="0"/>
              </a:rPr>
              <a:t>4 Weeks</a:t>
            </a:r>
          </a:p>
          <a:p>
            <a:pPr>
              <a:lnSpc>
                <a:spcPct val="1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Topics Covered : </a:t>
            </a:r>
            <a:r>
              <a:rPr lang="en-US" sz="2400" dirty="0">
                <a:latin typeface="Times New Roman" panose="02020603050405020304" pitchFamily="18" charset="0"/>
                <a:cs typeface="Times New Roman" panose="02020603050405020304" pitchFamily="18" charset="0"/>
              </a:rPr>
              <a:t>Machine Learning , Natural Language Processing , Image          Classification , Sentiment Analysis</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3</a:t>
            </a:fld>
            <a:endParaRPr lang="en-IN"/>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87522924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3E7F-CFFA-FE43-AFDB-D9150304BA66}"/>
            </a:ext>
          </a:extLst>
        </p:cNvPr>
        <p:cNvGrpSpPr/>
        <p:nvPr/>
      </p:nvGrpSpPr>
      <p:grpSpPr>
        <a:xfrm>
          <a:off x="0" y="0"/>
          <a:ext cx="0" cy="0"/>
          <a:chOff x="0" y="0"/>
          <a:chExt cx="0" cy="0"/>
        </a:xfrm>
      </p:grpSpPr>
      <p:sp>
        <p:nvSpPr>
          <p:cNvPr id="190" name="Disadvantages:-">
            <a:extLst>
              <a:ext uri="{FF2B5EF4-FFF2-40B4-BE49-F238E27FC236}">
                <a16:creationId xmlns:a16="http://schemas.microsoft.com/office/drawing/2014/main" id="{AEC5EF29-0D10-0B76-A587-04621AA31470}"/>
              </a:ext>
            </a:extLst>
          </p:cNvPr>
          <p:cNvSpPr txBox="1">
            <a:spLocks noGrp="1"/>
          </p:cNvSpPr>
          <p:nvPr>
            <p:ph type="title"/>
          </p:nvPr>
        </p:nvSpPr>
        <p:spPr>
          <a:prstGeom prst="rect">
            <a:avLst/>
          </a:prstGeom>
        </p:spPr>
        <p:txBody>
          <a:bodyPr>
            <a:normAutofit/>
          </a:bodyPr>
          <a:lstStyle>
            <a:lvl1pPr>
              <a:defRPr spc="-200"/>
            </a:lvl1pPr>
          </a:lstStyle>
          <a:p>
            <a:pPr algn="ctr"/>
            <a:r>
              <a:rPr lang="en-US" sz="3200" b="1" dirty="0">
                <a:latin typeface="Times New Roman" panose="02020603050405020304" pitchFamily="18" charset="0"/>
                <a:cs typeface="Times New Roman" panose="02020603050405020304" pitchFamily="18" charset="0"/>
              </a:rPr>
              <a:t>Company Details</a:t>
            </a:r>
            <a:endParaRPr lang="en-IN" sz="3200" b="1" dirty="0">
              <a:latin typeface="Times New Roman" panose="02020603050405020304" pitchFamily="18" charset="0"/>
              <a:cs typeface="Times New Roman" panose="02020603050405020304" pitchFamily="18" charset="0"/>
            </a:endParaRPr>
          </a:p>
        </p:txBody>
      </p:sp>
      <p:sp>
        <p:nvSpPr>
          <p:cNvPr id="191" name="Slide Subtitle">
            <a:extLst>
              <a:ext uri="{FF2B5EF4-FFF2-40B4-BE49-F238E27FC236}">
                <a16:creationId xmlns:a16="http://schemas.microsoft.com/office/drawing/2014/main" id="{73923A32-0E5F-30F6-6918-6B8DFDE86E22}"/>
              </a:ext>
            </a:extLst>
          </p:cNvPr>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a:extLst>
              <a:ext uri="{FF2B5EF4-FFF2-40B4-BE49-F238E27FC236}">
                <a16:creationId xmlns:a16="http://schemas.microsoft.com/office/drawing/2014/main" id="{9C582044-B3CF-FF22-B71A-ACBD43A4F0B5}"/>
              </a:ext>
            </a:extLst>
          </p:cNvPr>
          <p:cNvSpPr txBox="1">
            <a:spLocks noGrp="1"/>
          </p:cNvSpPr>
          <p:nvPr>
            <p:ph type="body" idx="21"/>
          </p:nvPr>
        </p:nvSpPr>
        <p:spPr>
          <a:xfrm>
            <a:off x="836612" y="1295041"/>
            <a:ext cx="10518776" cy="277285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marL="0" indent="0">
              <a:lnSpc>
                <a:spcPct val="100000"/>
              </a:lnSpc>
              <a:buNone/>
            </a:pPr>
            <a:r>
              <a:rPr lang="en-US" sz="2400" dirty="0" err="1">
                <a:latin typeface="Times New Roman" panose="02020603050405020304" pitchFamily="18" charset="0"/>
                <a:cs typeface="Times New Roman" panose="02020603050405020304" pitchFamily="18" charset="0"/>
              </a:rPr>
              <a:t>SkillDzire</a:t>
            </a:r>
            <a:r>
              <a:rPr lang="en-US" sz="2400" dirty="0">
                <a:latin typeface="Times New Roman" panose="02020603050405020304" pitchFamily="18" charset="0"/>
                <a:cs typeface="Times New Roman" panose="02020603050405020304" pitchFamily="18" charset="0"/>
              </a:rPr>
              <a:t> is an organization where students get trained by industry experts along with certification &amp; placements.</a:t>
            </a:r>
            <a:endParaRPr lang="en-IN" sz="24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Website :</a:t>
            </a:r>
            <a:r>
              <a:rPr 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hlinkClick r:id="rId2"/>
              </a:rPr>
              <a:t>https://skilldzire.com</a:t>
            </a:r>
            <a:endParaRPr lang="en-IN" sz="24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Industry : </a:t>
            </a:r>
            <a:r>
              <a:rPr lang="en-IN" sz="2400" dirty="0">
                <a:latin typeface="Times New Roman" panose="02020603050405020304" pitchFamily="18" charset="0"/>
                <a:cs typeface="Times New Roman" panose="02020603050405020304" pitchFamily="18" charset="0"/>
              </a:rPr>
              <a:t>IT Services and Training</a:t>
            </a:r>
          </a:p>
          <a:p>
            <a:pPr>
              <a:lnSpc>
                <a:spcPct val="1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Address : </a:t>
            </a:r>
            <a:r>
              <a:rPr lang="en-IN" sz="2400" dirty="0">
                <a:latin typeface="Times New Roman" panose="02020603050405020304" pitchFamily="18" charset="0"/>
                <a:cs typeface="Times New Roman" panose="02020603050405020304" pitchFamily="18" charset="0"/>
              </a:rPr>
              <a:t>Hyderabad , India</a:t>
            </a: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6764" y="6466656"/>
            <a:ext cx="258624" cy="248305"/>
          </a:xfrm>
        </p:spPr>
        <p:txBody>
          <a:bodyPr/>
          <a:lstStyle/>
          <a:p>
            <a:fld id="{86CB4B4D-7CA3-9044-876B-883B54F8677D}" type="slidenum">
              <a:rPr lang="en-IN" smtClean="0"/>
              <a:t>4</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2055869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555F7-2992-F815-7499-5B35C609F0ED}"/>
            </a:ext>
          </a:extLst>
        </p:cNvPr>
        <p:cNvGrpSpPr/>
        <p:nvPr/>
      </p:nvGrpSpPr>
      <p:grpSpPr>
        <a:xfrm>
          <a:off x="0" y="0"/>
          <a:ext cx="0" cy="0"/>
          <a:chOff x="0" y="0"/>
          <a:chExt cx="0" cy="0"/>
        </a:xfrm>
      </p:grpSpPr>
      <p:sp>
        <p:nvSpPr>
          <p:cNvPr id="190" name="Disadvantages:-">
            <a:extLst>
              <a:ext uri="{FF2B5EF4-FFF2-40B4-BE49-F238E27FC236}">
                <a16:creationId xmlns:a16="http://schemas.microsoft.com/office/drawing/2014/main" id="{5A8D0747-34F7-ED3B-D853-9897E56E37EC}"/>
              </a:ext>
            </a:extLst>
          </p:cNvPr>
          <p:cNvSpPr txBox="1">
            <a:spLocks noGrp="1"/>
          </p:cNvSpPr>
          <p:nvPr>
            <p:ph type="title"/>
          </p:nvPr>
        </p:nvSpPr>
        <p:spPr>
          <a:prstGeom prst="rect">
            <a:avLst/>
          </a:prstGeom>
        </p:spPr>
        <p:txBody>
          <a:bodyPr>
            <a:normAutofit/>
          </a:bodyPr>
          <a:lstStyle>
            <a:lvl1pPr>
              <a:defRPr spc="-200"/>
            </a:lvl1pPr>
          </a:lstStyle>
          <a:p>
            <a:pPr algn="ctr"/>
            <a:r>
              <a:rPr lang="en-US" sz="3200" b="1" dirty="0">
                <a:latin typeface="Times New Roman" panose="02020603050405020304" pitchFamily="18" charset="0"/>
                <a:cs typeface="Times New Roman" panose="02020603050405020304" pitchFamily="18" charset="0"/>
              </a:rPr>
              <a:t>Introduction to domain</a:t>
            </a:r>
            <a:endParaRPr lang="en-IN" sz="3200" b="1" dirty="0">
              <a:latin typeface="Times New Roman" panose="02020603050405020304" pitchFamily="18" charset="0"/>
              <a:cs typeface="Times New Roman" panose="02020603050405020304" pitchFamily="18" charset="0"/>
            </a:endParaRPr>
          </a:p>
        </p:txBody>
      </p:sp>
      <p:sp>
        <p:nvSpPr>
          <p:cNvPr id="191" name="Slide Subtitle">
            <a:extLst>
              <a:ext uri="{FF2B5EF4-FFF2-40B4-BE49-F238E27FC236}">
                <a16:creationId xmlns:a16="http://schemas.microsoft.com/office/drawing/2014/main" id="{BB3F52F0-9A3C-D496-4EA8-E9012CB9D969}"/>
              </a:ext>
            </a:extLst>
          </p:cNvPr>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a:extLst>
              <a:ext uri="{FF2B5EF4-FFF2-40B4-BE49-F238E27FC236}">
                <a16:creationId xmlns:a16="http://schemas.microsoft.com/office/drawing/2014/main" id="{58BF4A2D-FE40-CCA5-2A50-F31750640AC2}"/>
              </a:ext>
            </a:extLst>
          </p:cNvPr>
          <p:cNvSpPr txBox="1">
            <a:spLocks noGrp="1"/>
          </p:cNvSpPr>
          <p:nvPr>
            <p:ph type="body" idx="21"/>
          </p:nvPr>
        </p:nvSpPr>
        <p:spPr>
          <a:xfrm>
            <a:off x="833437" y="1690688"/>
            <a:ext cx="10518776" cy="258733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Artificial Intelligence (AI) is the branch of computer science focused on building systems capable of performing tasks that normally require human intelligence, such as learning, reasoning, problem-solving, and understanding natural language.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 domain is a multidisciplinary field merging computer science, mathematics, neuroscience, linguistics, and engineering.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rapid advancements, AI increasingly transforms industries and daily life. </a:t>
            </a:r>
          </a:p>
        </p:txBody>
      </p:sp>
      <p:sp>
        <p:nvSpPr>
          <p:cNvPr id="2" name="Slide Number Placeholder 1"/>
          <p:cNvSpPr>
            <a:spLocks noGrp="1"/>
          </p:cNvSpPr>
          <p:nvPr>
            <p:ph type="sldNum" sz="quarter" idx="2"/>
          </p:nvPr>
        </p:nvSpPr>
        <p:spPr>
          <a:xfrm>
            <a:off x="11093589" y="6492875"/>
            <a:ext cx="258624" cy="248305"/>
          </a:xfrm>
        </p:spPr>
        <p:txBody>
          <a:bodyPr/>
          <a:lstStyle/>
          <a:p>
            <a:fld id="{86CB4B4D-7CA3-9044-876B-883B54F8677D}" type="slidenum">
              <a:rPr lang="en-IN" smtClean="0"/>
              <a:t>5</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5998881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33030E2-755E-7145-E723-5CF200018A4C}"/>
              </a:ext>
            </a:extLst>
          </p:cNvPr>
          <p:cNvSpPr>
            <a:spLocks noGrp="1"/>
          </p:cNvSpPr>
          <p:nvPr>
            <p:ph type="body" idx="1"/>
          </p:nvPr>
        </p:nvSpPr>
        <p:spPr>
          <a:xfrm>
            <a:off x="702538" y="1068541"/>
            <a:ext cx="10515600" cy="4351338"/>
          </a:xfrm>
        </p:spPr>
        <p:txBody>
          <a:bodyPr>
            <a:normAutofit/>
          </a:bodyPr>
          <a:lstStyle/>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Algorithms :</a:t>
            </a:r>
            <a:r>
              <a:rPr lang="en-US" sz="2400" dirty="0">
                <a:latin typeface="Times New Roman" panose="02020603050405020304" pitchFamily="18" charset="0"/>
                <a:cs typeface="Times New Roman" panose="02020603050405020304" pitchFamily="18" charset="0"/>
              </a:rPr>
              <a:t> Rule based scoring, CNN, Naive Bayes.</a:t>
            </a:r>
          </a:p>
          <a:p>
            <a:r>
              <a:rPr lang="en-US" sz="2400" b="1" dirty="0">
                <a:latin typeface="Times New Roman" panose="02020603050405020304" pitchFamily="18" charset="0"/>
                <a:cs typeface="Times New Roman" panose="02020603050405020304" pitchFamily="18" charset="0"/>
              </a:rPr>
              <a:t>Models : </a:t>
            </a:r>
            <a:r>
              <a:rPr lang="en-US" sz="2400" dirty="0">
                <a:latin typeface="Times New Roman" panose="02020603050405020304" pitchFamily="18" charset="0"/>
                <a:cs typeface="Times New Roman" panose="02020603050405020304" pitchFamily="18" charset="0"/>
              </a:rPr>
              <a:t>Lexicon Model, CNN Model, Naive Bayes Model.</a:t>
            </a:r>
          </a:p>
          <a:p>
            <a:r>
              <a:rPr lang="en-US" sz="2400" b="1" dirty="0">
                <a:latin typeface="Times New Roman" panose="02020603050405020304" pitchFamily="18" charset="0"/>
                <a:cs typeface="Times New Roman" panose="02020603050405020304" pitchFamily="18" charset="0"/>
              </a:rPr>
              <a:t>Modules : </a:t>
            </a:r>
            <a:r>
              <a:rPr lang="en-US" sz="2400" dirty="0">
                <a:latin typeface="Times New Roman" panose="02020603050405020304" pitchFamily="18" charset="0"/>
                <a:cs typeface="Times New Roman" panose="02020603050405020304" pitchFamily="18" charset="0"/>
              </a:rPr>
              <a:t>nltk.sentiment, </a:t>
            </a:r>
            <a:r>
              <a:rPr lang="en-US" sz="2400" dirty="0" err="1">
                <a:latin typeface="Times New Roman" panose="02020603050405020304" pitchFamily="18" charset="0"/>
                <a:cs typeface="Times New Roman" panose="02020603050405020304" pitchFamily="18" charset="0"/>
              </a:rPr>
              <a:t>nltk.tokenize</a:t>
            </a:r>
            <a:r>
              <a:rPr lang="en-US" sz="2400" dirty="0">
                <a:latin typeface="Times New Roman" panose="02020603050405020304" pitchFamily="18" charset="0"/>
                <a:cs typeface="Times New Roman" panose="02020603050405020304" pitchFamily="18" charset="0"/>
              </a:rPr>
              <a:t>, cv2, </a:t>
            </a:r>
            <a:r>
              <a:rPr lang="en-US" sz="2400" dirty="0" err="1">
                <a:latin typeface="Times New Roman" panose="02020603050405020304" pitchFamily="18" charset="0"/>
                <a:cs typeface="Times New Roman" panose="02020603050405020304" pitchFamily="18" charset="0"/>
              </a:rPr>
              <a:t>tensorflow.keras.models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tensorflow.keras.layers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sklearn.naive_bayes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sklearn.model_selection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sklearn.metrics</a:t>
            </a:r>
            <a:r>
              <a:rPr lang="en-US" sz="2400" dirty="0">
                <a:latin typeface="Times New Roman" panose="02020603050405020304" pitchFamily="18" charset="0"/>
                <a:cs typeface="Times New Roman" panose="02020603050405020304" pitchFamily="18" charset="0"/>
              </a:rPr>
              <a:t>.</a:t>
            </a:r>
          </a:p>
        </p:txBody>
      </p:sp>
      <p:sp>
        <p:nvSpPr>
          <p:cNvPr id="4" name="Google Shape;95;p13">
            <a:extLst>
              <a:ext uri="{FF2B5EF4-FFF2-40B4-BE49-F238E27FC236}">
                <a16:creationId xmlns:a16="http://schemas.microsoft.com/office/drawing/2014/main" id="{94D8EF37-B29F-398D-71CB-F5E9095A1C7F}"/>
              </a:ext>
            </a:extLst>
          </p:cNvPr>
          <p:cNvSpPr txBox="1"/>
          <p:nvPr/>
        </p:nvSpPr>
        <p:spPr>
          <a:xfrm>
            <a:off x="274325" y="6502399"/>
            <a:ext cx="8783310" cy="954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spAutoFit/>
          </a:bodyPr>
          <a:lstStyle>
            <a:lvl1pPr>
              <a:defRPr sz="1400">
                <a:solidFill>
                  <a:srgbClr val="595959"/>
                </a:solidFill>
                <a:latin typeface="Times New Roman"/>
                <a:ea typeface="Times New Roman"/>
                <a:cs typeface="Times New Roman"/>
                <a:sym typeface="Times New Roman"/>
              </a:defRPr>
            </a:lvl1pPr>
          </a:lstStyle>
          <a:p>
            <a:r>
              <a:rPr dirty="0"/>
              <a:t>Artificial Intelligence		                                                               </a:t>
            </a:r>
            <a:r>
              <a:rPr lang="en-US" dirty="0"/>
              <a:t>03</a:t>
            </a:r>
            <a:r>
              <a:rPr dirty="0"/>
              <a:t>/1</a:t>
            </a:r>
            <a:r>
              <a:rPr lang="en-US" dirty="0"/>
              <a:t>1</a:t>
            </a:r>
            <a:r>
              <a:rPr dirty="0"/>
              <a:t>/2025 				                                        								                                                                                                                                                   		                                                                   </a:t>
            </a:r>
          </a:p>
        </p:txBody>
      </p:sp>
      <p:sp>
        <p:nvSpPr>
          <p:cNvPr id="6" name="Slide Number Placeholder 3">
            <a:extLst>
              <a:ext uri="{FF2B5EF4-FFF2-40B4-BE49-F238E27FC236}">
                <a16:creationId xmlns:a16="http://schemas.microsoft.com/office/drawing/2014/main" id="{56AE8953-3B8A-4267-AF50-44EF75EAE0EC}"/>
              </a:ext>
            </a:extLst>
          </p:cNvPr>
          <p:cNvSpPr>
            <a:spLocks noGrp="1"/>
          </p:cNvSpPr>
          <p:nvPr>
            <p:ph type="sldNum" sz="quarter" idx="2"/>
          </p:nvPr>
        </p:nvSpPr>
        <p:spPr>
          <a:xfrm>
            <a:off x="11088826" y="6502400"/>
            <a:ext cx="258624" cy="248305"/>
          </a:xfrm>
        </p:spPr>
        <p:txBody>
          <a:bodyPr/>
          <a:lstStyle/>
          <a:p>
            <a:fld id="{86CB4B4D-7CA3-9044-876B-883B54F8677D}" type="slidenum">
              <a:rPr lang="en-IN" smtClean="0"/>
              <a:t>6</a:t>
            </a:fld>
            <a:endParaRPr lang="en-IN"/>
          </a:p>
        </p:txBody>
      </p:sp>
    </p:spTree>
    <p:extLst>
      <p:ext uri="{BB962C8B-B14F-4D97-AF65-F5344CB8AC3E}">
        <p14:creationId xmlns:p14="http://schemas.microsoft.com/office/powerpoint/2010/main" val="204242062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68BE-59FB-2138-29A1-4F24A5035C41}"/>
              </a:ext>
            </a:extLst>
          </p:cNvPr>
          <p:cNvSpPr>
            <a:spLocks noGrp="1"/>
          </p:cNvSpPr>
          <p:nvPr>
            <p:ph type="title"/>
          </p:nvPr>
        </p:nvSpPr>
        <p:spPr>
          <a:xfrm>
            <a:off x="831850" y="97247"/>
            <a:ext cx="10515600" cy="994133"/>
          </a:xfrm>
        </p:spPr>
        <p:txBody>
          <a:bodyPr>
            <a:normAutofit/>
          </a:bodyPr>
          <a:lstStyle/>
          <a:p>
            <a:pPr algn="ctr"/>
            <a:r>
              <a:rPr lang="en-US" sz="3200" b="1" dirty="0">
                <a:latin typeface="Times New Roman" panose="02020603050405020304" pitchFamily="18" charset="0"/>
                <a:cs typeface="Times New Roman" panose="02020603050405020304" pitchFamily="18" charset="0"/>
              </a:rPr>
              <a:t>List of tasks</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D1B581A-2F20-40A2-7683-7A7696A03177}"/>
              </a:ext>
            </a:extLst>
          </p:cNvPr>
          <p:cNvSpPr>
            <a:spLocks noGrp="1"/>
          </p:cNvSpPr>
          <p:nvPr>
            <p:ph type="body" sz="quarter" idx="1"/>
          </p:nvPr>
        </p:nvSpPr>
        <p:spPr>
          <a:xfrm>
            <a:off x="831850" y="1091380"/>
            <a:ext cx="10515600" cy="4545985"/>
          </a:xfrm>
        </p:spPr>
        <p:txBody>
          <a:bodyPr>
            <a:normAutofit/>
          </a:bodyPr>
          <a:lstStyle/>
          <a:p>
            <a:pPr>
              <a:lnSpc>
                <a:spcPct val="100000"/>
              </a:lnSpc>
            </a:pPr>
            <a:endParaRPr 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Task 1 : </a:t>
            </a:r>
            <a:r>
              <a:rPr lang="en-US" dirty="0">
                <a:solidFill>
                  <a:schemeClr val="tx1"/>
                </a:solidFill>
                <a:latin typeface="Times New Roman" panose="02020603050405020304" pitchFamily="18" charset="0"/>
                <a:cs typeface="Times New Roman" panose="02020603050405020304" pitchFamily="18" charset="0"/>
              </a:rPr>
              <a:t>Chat analyzer and emotion detector</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Task 2 : </a:t>
            </a:r>
            <a:r>
              <a:rPr lang="en-US" dirty="0">
                <a:solidFill>
                  <a:schemeClr val="tx1"/>
                </a:solidFill>
                <a:latin typeface="Times New Roman" panose="02020603050405020304" pitchFamily="18" charset="0"/>
                <a:cs typeface="Times New Roman" panose="02020603050405020304" pitchFamily="18" charset="0"/>
              </a:rPr>
              <a:t>Development of an image classification model for a custom dataset</a:t>
            </a:r>
            <a:endParaRPr lang="en-IN"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Task 3 : </a:t>
            </a:r>
            <a:r>
              <a:rPr lang="en-US" dirty="0">
                <a:solidFill>
                  <a:schemeClr val="tx1"/>
                </a:solidFill>
                <a:latin typeface="Times New Roman" panose="02020603050405020304" pitchFamily="18" charset="0"/>
                <a:cs typeface="Times New Roman" panose="02020603050405020304" pitchFamily="18" charset="0"/>
              </a:rPr>
              <a:t>Spam email classifier</a:t>
            </a:r>
          </a:p>
        </p:txBody>
      </p:sp>
      <p:sp>
        <p:nvSpPr>
          <p:cNvPr id="4" name="Slide Number Placeholder 3"/>
          <p:cNvSpPr>
            <a:spLocks noGrp="1"/>
          </p:cNvSpPr>
          <p:nvPr>
            <p:ph type="sldNum" sz="quarter" idx="2"/>
          </p:nvPr>
        </p:nvSpPr>
        <p:spPr>
          <a:xfrm>
            <a:off x="11088826" y="6502400"/>
            <a:ext cx="258624" cy="248305"/>
          </a:xfrm>
        </p:spPr>
        <p:txBody>
          <a:bodyPr/>
          <a:lstStyle/>
          <a:p>
            <a:fld id="{86CB4B4D-7CA3-9044-876B-883B54F8677D}" type="slidenum">
              <a:rPr lang="en-IN" smtClean="0"/>
              <a:t>7</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66299604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D430A-D1A1-43D3-BDD5-F4A9490C2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E5AF-FEA8-44D2-B515-61D210CA7FD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TASK 1</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5463151-4AC6-A115-1E56-52F7BFA2908F}"/>
              </a:ext>
            </a:extLst>
          </p:cNvPr>
          <p:cNvSpPr txBox="1"/>
          <p:nvPr/>
        </p:nvSpPr>
        <p:spPr>
          <a:xfrm>
            <a:off x="838199" y="3009970"/>
            <a:ext cx="1051559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3600" dirty="0">
                <a:latin typeface="Times New Roman" panose="02020603050405020304" pitchFamily="18" charset="0"/>
                <a:cs typeface="Times New Roman" panose="02020603050405020304" pitchFamily="18" charset="0"/>
              </a:rPr>
              <a:t>Chat Analyzer and Emotion Detector</a:t>
            </a:r>
            <a:endParaRPr lang="en-IN" sz="36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2"/>
          </p:nvPr>
        </p:nvSpPr>
        <p:spPr>
          <a:xfrm>
            <a:off x="11095174" y="6502400"/>
            <a:ext cx="258624" cy="248305"/>
          </a:xfrm>
        </p:spPr>
        <p:txBody>
          <a:bodyPr/>
          <a:lstStyle/>
          <a:p>
            <a:fld id="{86CB4B4D-7CA3-9044-876B-883B54F8677D}" type="slidenum">
              <a:rPr lang="en-IN" smtClean="0"/>
              <a:t>8</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308664345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18FA7-1E2E-A6C8-C3D7-5055864DF4A2}"/>
            </a:ext>
          </a:extLst>
        </p:cNvPr>
        <p:cNvGrpSpPr/>
        <p:nvPr/>
      </p:nvGrpSpPr>
      <p:grpSpPr>
        <a:xfrm>
          <a:off x="0" y="0"/>
          <a:ext cx="0" cy="0"/>
          <a:chOff x="0" y="0"/>
          <a:chExt cx="0" cy="0"/>
        </a:xfrm>
      </p:grpSpPr>
      <p:sp>
        <p:nvSpPr>
          <p:cNvPr id="174" name="ABSTRACT:-">
            <a:extLst>
              <a:ext uri="{FF2B5EF4-FFF2-40B4-BE49-F238E27FC236}">
                <a16:creationId xmlns:a16="http://schemas.microsoft.com/office/drawing/2014/main" id="{D165550C-5B98-6A30-5A23-0F31FB536022}"/>
              </a:ext>
            </a:extLst>
          </p:cNvPr>
          <p:cNvSpPr txBox="1">
            <a:spLocks noGrp="1"/>
          </p:cNvSpPr>
          <p:nvPr>
            <p:ph type="title"/>
          </p:nvPr>
        </p:nvSpPr>
        <p:spPr>
          <a:xfrm>
            <a:off x="839787" y="365125"/>
            <a:ext cx="10515601" cy="775417"/>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A</a:t>
            </a:r>
            <a:r>
              <a:rPr lang="en-US" sz="3200" b="1" dirty="0">
                <a:latin typeface="Times New Roman" panose="02020603050405020304" pitchFamily="18" charset="0"/>
                <a:cs typeface="Times New Roman" panose="02020603050405020304" pitchFamily="18" charset="0"/>
              </a:rPr>
              <a:t>bstract</a:t>
            </a:r>
            <a:endParaRPr sz="3200" b="1" dirty="0">
              <a:latin typeface="Times New Roman" panose="02020603050405020304" pitchFamily="18" charset="0"/>
              <a:cs typeface="Times New Roman" panose="02020603050405020304" pitchFamily="18" charset="0"/>
            </a:endParaRPr>
          </a:p>
        </p:txBody>
      </p:sp>
      <p:sp>
        <p:nvSpPr>
          <p:cNvPr id="176" name="Image classification is one of the most widely used applications of Artificial Intelligence and Computer Vision. The aim of this task is to design and implement an image classification model for a custom dataset, where images belong to specific categorie">
            <a:extLst>
              <a:ext uri="{FF2B5EF4-FFF2-40B4-BE49-F238E27FC236}">
                <a16:creationId xmlns:a16="http://schemas.microsoft.com/office/drawing/2014/main" id="{3938EF42-3F34-AA72-C438-7D520E5DCE97}"/>
              </a:ext>
            </a:extLst>
          </p:cNvPr>
          <p:cNvSpPr txBox="1">
            <a:spLocks noGrp="1"/>
          </p:cNvSpPr>
          <p:nvPr>
            <p:ph type="body" idx="21"/>
          </p:nvPr>
        </p:nvSpPr>
        <p:spPr>
          <a:xfrm>
            <a:off x="983226" y="1523999"/>
            <a:ext cx="10515601" cy="421178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lvl1pPr algn="just">
              <a:defRPr sz="5000"/>
            </a:lvl1p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Digital communication platforms such as WhatsApp, Messenger, and Telegram generate massive amounts of chat data daily.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conversations not only reflect communication patterns but also carry emotional and psychological signals.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Chat Analyzer and Emotion Detector aims to process chat transcripts to extract meaningful insights such as user activity, word usage, conversation trends, and emotional states.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leveraging Artificial Intelligence (AI), Machine Learning (ML), and Natural Language Processing (NLP), the system can detect sentiments (positive, negative, neutral) and classify emotions (joy, sadness, anger, fear, surprise, etc.).</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project is useful for personal reflection, group behavior analysis, business analytics, and research in psychology/social sciences.</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9</a:t>
            </a:fld>
            <a:endParaRPr lang="en-IN" dirty="0"/>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32584088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E926-19BE-EABA-7CBD-75253D8BD677}"/>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Existing System</a:t>
            </a:r>
            <a:endParaRPr lang="en-IN" sz="3200" dirty="0"/>
          </a:p>
        </p:txBody>
      </p:sp>
      <p:sp>
        <p:nvSpPr>
          <p:cNvPr id="3" name="Text Placeholder 2">
            <a:extLst>
              <a:ext uri="{FF2B5EF4-FFF2-40B4-BE49-F238E27FC236}">
                <a16:creationId xmlns:a16="http://schemas.microsoft.com/office/drawing/2014/main" id="{EBCEDFCF-9111-DD67-67F8-2BFE4E81EA59}"/>
              </a:ext>
            </a:extLst>
          </p:cNvPr>
          <p:cNvSpPr>
            <a:spLocks noGrp="1"/>
          </p:cNvSpPr>
          <p:nvPr>
            <p:ph type="body" idx="1"/>
          </p:nvPr>
        </p:nvSpPr>
        <p:spPr/>
        <p:txBody>
          <a:bodyPr>
            <a:normAutofit/>
          </a:bodyPr>
          <a:lstStyle/>
          <a:p>
            <a:pPr algn="just">
              <a:defRPr sz="2400">
                <a:latin typeface="Times New Roman"/>
                <a:ea typeface="Times New Roman"/>
                <a:cs typeface="Times New Roman"/>
                <a:sym typeface="Times New Roman"/>
              </a:defRPr>
            </a:pPr>
            <a:r>
              <a:rPr lang="en-US" dirty="0"/>
              <a:t>Rule based sentiment scoring (keyword and polarity counts).</a:t>
            </a:r>
          </a:p>
          <a:p>
            <a:pPr algn="just">
              <a:defRPr sz="2400">
                <a:latin typeface="Times New Roman"/>
                <a:ea typeface="Times New Roman"/>
                <a:cs typeface="Times New Roman"/>
                <a:sym typeface="Times New Roman"/>
              </a:defRPr>
            </a:pPr>
            <a:r>
              <a:rPr lang="en-US" dirty="0"/>
              <a:t>Sentiment is identified based on keywords and their polarity (positive / negative / neutral).</a:t>
            </a:r>
          </a:p>
        </p:txBody>
      </p:sp>
      <p:sp>
        <p:nvSpPr>
          <p:cNvPr id="4" name="Slide Number Placeholder 3"/>
          <p:cNvSpPr>
            <a:spLocks noGrp="1"/>
          </p:cNvSpPr>
          <p:nvPr>
            <p:ph type="sldNum" sz="quarter" idx="2"/>
          </p:nvPr>
        </p:nvSpPr>
        <p:spPr>
          <a:xfrm>
            <a:off x="11095176" y="6459865"/>
            <a:ext cx="258624" cy="248305"/>
          </a:xfrm>
        </p:spPr>
        <p:txBody>
          <a:bodyPr/>
          <a:lstStyle/>
          <a:p>
            <a:fld id="{86CB4B4D-7CA3-9044-876B-883B54F8677D}" type="slidenum">
              <a:rPr lang="en-IN" smtClean="0"/>
              <a:t>10</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4871275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B358E-44C8-5C74-0CE1-F78D64C3B8BE}"/>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Disadvantages</a:t>
            </a:r>
            <a:endParaRPr lang="en-IN" sz="3200" dirty="0"/>
          </a:p>
        </p:txBody>
      </p:sp>
      <p:sp>
        <p:nvSpPr>
          <p:cNvPr id="3" name="Text Placeholder 2">
            <a:extLst>
              <a:ext uri="{FF2B5EF4-FFF2-40B4-BE49-F238E27FC236}">
                <a16:creationId xmlns:a16="http://schemas.microsoft.com/office/drawing/2014/main" id="{390FD8EC-731D-3E97-631B-170CEBCC7E85}"/>
              </a:ext>
            </a:extLst>
          </p:cNvPr>
          <p:cNvSpPr>
            <a:spLocks noGrp="1"/>
          </p:cNvSpPr>
          <p:nvPr>
            <p:ph type="body"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Misclassification (sarcasm, mixed emotions) causing false positives/negatives.</a:t>
            </a:r>
          </a:p>
          <a:p>
            <a:pPr algn="just"/>
            <a:r>
              <a:rPr lang="en-IN" sz="2400" dirty="0">
                <a:latin typeface="Times New Roman" panose="02020603050405020304" pitchFamily="18" charset="0"/>
                <a:cs typeface="Times New Roman" panose="02020603050405020304" pitchFamily="18" charset="0"/>
              </a:rPr>
              <a:t>Lower Accuracy.</a:t>
            </a:r>
          </a:p>
          <a:p>
            <a:pPr algn="just"/>
            <a:r>
              <a:rPr lang="en-IN" sz="2400" dirty="0">
                <a:latin typeface="Times New Roman" panose="02020603050405020304" pitchFamily="18" charset="0"/>
                <a:cs typeface="Times New Roman" panose="02020603050405020304" pitchFamily="18" charset="0"/>
              </a:rPr>
              <a:t>Higher cost and possible latency.</a:t>
            </a:r>
          </a:p>
          <a:p>
            <a:pPr algn="just"/>
            <a:r>
              <a:rPr lang="en-IN" sz="2400" dirty="0">
                <a:latin typeface="Times New Roman" panose="02020603050405020304" pitchFamily="18" charset="0"/>
                <a:cs typeface="Times New Roman" panose="02020603050405020304" pitchFamily="18" charset="0"/>
              </a:rPr>
              <a:t>Needs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data, retraining, and human review for critical cases.</a:t>
            </a:r>
          </a:p>
        </p:txBody>
      </p:sp>
      <p:sp>
        <p:nvSpPr>
          <p:cNvPr id="4" name="Slide Number Placeholder 3"/>
          <p:cNvSpPr>
            <a:spLocks noGrp="1"/>
          </p:cNvSpPr>
          <p:nvPr>
            <p:ph type="sldNum" sz="quarter" idx="2"/>
          </p:nvPr>
        </p:nvSpPr>
        <p:spPr>
          <a:xfrm>
            <a:off x="11095176" y="6492875"/>
            <a:ext cx="258624" cy="248305"/>
          </a:xfrm>
        </p:spPr>
        <p:txBody>
          <a:bodyPr/>
          <a:lstStyle/>
          <a:p>
            <a:fld id="{86CB4B4D-7CA3-9044-876B-883B54F8677D}" type="slidenum">
              <a:rPr lang="en-IN" smtClean="0"/>
              <a:t>11</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95564523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97D4-5BA7-CD02-BDC9-EA8717E51879}"/>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Proposed System</a:t>
            </a:r>
            <a:endParaRPr lang="en-IN" sz="3200" dirty="0"/>
          </a:p>
        </p:txBody>
      </p:sp>
      <p:sp>
        <p:nvSpPr>
          <p:cNvPr id="3" name="Text Placeholder 2">
            <a:extLst>
              <a:ext uri="{FF2B5EF4-FFF2-40B4-BE49-F238E27FC236}">
                <a16:creationId xmlns:a16="http://schemas.microsoft.com/office/drawing/2014/main" id="{A69FF463-A3E6-F465-4CE8-1E3C1E1F2B02}"/>
              </a:ext>
            </a:extLst>
          </p:cNvPr>
          <p:cNvSpPr>
            <a:spLocks noGrp="1"/>
          </p:cNvSpPr>
          <p:nvPr>
            <p:ph type="body"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Emotion recognition using lexicon-based methods (VADER, NRC).</a:t>
            </a:r>
          </a:p>
          <a:p>
            <a:pPr algn="just"/>
            <a:r>
              <a:rPr lang="en-IN" sz="2400" dirty="0">
                <a:latin typeface="Times New Roman" panose="02020603050405020304" pitchFamily="18" charset="0"/>
                <a:cs typeface="Times New Roman" panose="02020603050405020304" pitchFamily="18" charset="0"/>
              </a:rPr>
              <a:t>Preprocessing that normalizes text, handles emojis, and anonymizes.</a:t>
            </a:r>
          </a:p>
          <a:p>
            <a:pPr algn="just"/>
            <a:r>
              <a:rPr lang="en-IN" sz="2400" dirty="0">
                <a:latin typeface="Times New Roman" panose="02020603050405020304" pitchFamily="18" charset="0"/>
                <a:cs typeface="Times New Roman" panose="02020603050405020304" pitchFamily="18" charset="0"/>
              </a:rPr>
              <a:t>Emoji and slang-based emotional mapping.</a:t>
            </a:r>
          </a:p>
          <a:p>
            <a:pPr algn="just"/>
            <a:r>
              <a:rPr lang="en-IN" sz="2400" dirty="0">
                <a:latin typeface="Times New Roman" panose="02020603050405020304" pitchFamily="18" charset="0"/>
                <a:cs typeface="Times New Roman" panose="02020603050405020304" pitchFamily="18" charset="0"/>
              </a:rPr>
              <a:t>Includes intent classification, topic extraction, summarization.</a:t>
            </a:r>
          </a:p>
        </p:txBody>
      </p:sp>
      <p:sp>
        <p:nvSpPr>
          <p:cNvPr id="4" name="Slide Number Placeholder 3"/>
          <p:cNvSpPr>
            <a:spLocks noGrp="1"/>
          </p:cNvSpPr>
          <p:nvPr>
            <p:ph type="sldNum" sz="quarter" idx="2"/>
          </p:nvPr>
        </p:nvSpPr>
        <p:spPr>
          <a:xfrm>
            <a:off x="11095176" y="6492875"/>
            <a:ext cx="258624" cy="248305"/>
          </a:xfrm>
        </p:spPr>
        <p:txBody>
          <a:bodyPr/>
          <a:lstStyle/>
          <a:p>
            <a:fld id="{86CB4B4D-7CA3-9044-876B-883B54F8677D}" type="slidenum">
              <a:rPr lang="en-IN" smtClean="0"/>
              <a:t>12</a:t>
            </a:fld>
            <a:endParaRPr lang="en-IN" dirty="0"/>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318804096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E57F9-D3F5-36CC-361C-810591125A9F}"/>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Advantages</a:t>
            </a:r>
            <a:endParaRPr lang="en-IN" sz="3200" dirty="0"/>
          </a:p>
        </p:txBody>
      </p:sp>
      <p:sp>
        <p:nvSpPr>
          <p:cNvPr id="3" name="Text Placeholder 2">
            <a:extLst>
              <a:ext uri="{FF2B5EF4-FFF2-40B4-BE49-F238E27FC236}">
                <a16:creationId xmlns:a16="http://schemas.microsoft.com/office/drawing/2014/main" id="{68228A72-605F-420B-67EC-191F15708A7D}"/>
              </a:ext>
            </a:extLst>
          </p:cNvPr>
          <p:cNvSpPr>
            <a:spLocks noGrp="1"/>
          </p:cNvSpPr>
          <p:nvPr>
            <p:ph type="body"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Richer emotional granularity (multiple emotions instead of simple polarity).</a:t>
            </a:r>
          </a:p>
          <a:p>
            <a:pPr algn="just"/>
            <a:r>
              <a:rPr lang="en-US" sz="2400" dirty="0">
                <a:latin typeface="Times New Roman" panose="02020603050405020304" pitchFamily="18" charset="0"/>
                <a:cs typeface="Times New Roman" panose="02020603050405020304" pitchFamily="18" charset="0"/>
              </a:rPr>
              <a:t>Faster, proactive responses.</a:t>
            </a:r>
          </a:p>
          <a:p>
            <a:pPr algn="just"/>
            <a:r>
              <a:rPr lang="en-IN" sz="2400" dirty="0">
                <a:latin typeface="Times New Roman" panose="02020603050405020304" pitchFamily="18" charset="0"/>
                <a:cs typeface="Times New Roman" panose="02020603050405020304" pitchFamily="18" charset="0"/>
              </a:rPr>
              <a:t>Extracts hidden patterns in chats for better understanding.</a:t>
            </a:r>
          </a:p>
          <a:p>
            <a:pPr algn="just"/>
            <a:r>
              <a:rPr lang="en-IN" sz="2400" dirty="0">
                <a:latin typeface="Times New Roman" panose="02020603050405020304" pitchFamily="18" charset="0"/>
                <a:cs typeface="Times New Roman" panose="02020603050405020304" pitchFamily="18" charset="0"/>
              </a:rPr>
              <a:t>Detects emotional tone of conversations.</a:t>
            </a:r>
          </a:p>
          <a:p>
            <a:pPr algn="just"/>
            <a:r>
              <a:rPr lang="en-IN" sz="2400" dirty="0">
                <a:latin typeface="Times New Roman" panose="02020603050405020304" pitchFamily="18" charset="0"/>
                <a:cs typeface="Times New Roman" panose="02020603050405020304" pitchFamily="18" charset="0"/>
              </a:rPr>
              <a:t>Supports data-driven research in psychology, linguistics, and business.</a:t>
            </a:r>
          </a:p>
          <a:p>
            <a:pPr algn="just"/>
            <a:r>
              <a:rPr lang="en-US" sz="2400" dirty="0">
                <a:latin typeface="Times New Roman" panose="02020603050405020304" pitchFamily="18" charset="0"/>
                <a:cs typeface="Times New Roman" panose="02020603050405020304" pitchFamily="18" charset="0"/>
              </a:rPr>
              <a:t>Scalable monitoring of high chat volumes with reduced manual overhead.</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2"/>
          </p:nvPr>
        </p:nvSpPr>
        <p:spPr>
          <a:xfrm>
            <a:off x="11095176" y="6470005"/>
            <a:ext cx="258624" cy="248305"/>
          </a:xfrm>
        </p:spPr>
        <p:txBody>
          <a:bodyPr/>
          <a:lstStyle/>
          <a:p>
            <a:fld id="{86CB4B4D-7CA3-9044-876B-883B54F8677D}" type="slidenum">
              <a:rPr lang="en-IN" smtClean="0"/>
              <a:t>13</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82469928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DDEB-CA66-FFC2-2A24-BB6E2986E936}"/>
              </a:ext>
            </a:extLst>
          </p:cNvPr>
          <p:cNvSpPr>
            <a:spLocks noGrp="1"/>
          </p:cNvSpPr>
          <p:nvPr>
            <p:ph type="title"/>
          </p:nvPr>
        </p:nvSpPr>
        <p:spPr>
          <a:xfrm>
            <a:off x="838200" y="177368"/>
            <a:ext cx="10515600" cy="538884"/>
          </a:xfrm>
        </p:spPr>
        <p:txBody>
          <a:bodyPr>
            <a:normAutofit/>
          </a:bodyPr>
          <a:lstStyle/>
          <a:p>
            <a:pPr algn="ctr"/>
            <a:r>
              <a:rPr lang="en-IN" sz="3200" b="1" dirty="0">
                <a:latin typeface="Times New Roman" panose="02020603050405020304" pitchFamily="18" charset="0"/>
                <a:cs typeface="Times New Roman" panose="02020603050405020304" pitchFamily="18" charset="0"/>
              </a:rPr>
              <a:t>Source Code</a:t>
            </a:r>
          </a:p>
        </p:txBody>
      </p:sp>
      <p:sp>
        <p:nvSpPr>
          <p:cNvPr id="3" name="Text Placeholder 2">
            <a:extLst>
              <a:ext uri="{FF2B5EF4-FFF2-40B4-BE49-F238E27FC236}">
                <a16:creationId xmlns:a16="http://schemas.microsoft.com/office/drawing/2014/main" id="{2CF32306-1574-EE09-66F8-BD357F127DD2}"/>
              </a:ext>
            </a:extLst>
          </p:cNvPr>
          <p:cNvSpPr>
            <a:spLocks noGrp="1"/>
          </p:cNvSpPr>
          <p:nvPr>
            <p:ph type="body" idx="1"/>
          </p:nvPr>
        </p:nvSpPr>
        <p:spPr>
          <a:xfrm>
            <a:off x="838200" y="997527"/>
            <a:ext cx="10515600" cy="5320145"/>
          </a:xfrm>
        </p:spPr>
        <p:txBody>
          <a:bodyPr/>
          <a:lstStyle/>
          <a:p>
            <a:endParaRPr lang="en-IN" dirty="0"/>
          </a:p>
        </p:txBody>
      </p:sp>
      <p:pic>
        <p:nvPicPr>
          <p:cNvPr id="4" name="Picture 3">
            <a:extLst>
              <a:ext uri="{FF2B5EF4-FFF2-40B4-BE49-F238E27FC236}">
                <a16:creationId xmlns:a16="http://schemas.microsoft.com/office/drawing/2014/main" id="{B841368E-5985-1EF6-8FD2-4DF5F8CB2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018" y="716253"/>
            <a:ext cx="10796155" cy="5694938"/>
          </a:xfrm>
          <a:prstGeom prst="rect">
            <a:avLst/>
          </a:prstGeom>
        </p:spPr>
      </p:pic>
      <p:sp>
        <p:nvSpPr>
          <p:cNvPr id="5" name="Slide Number Placeholder 4"/>
          <p:cNvSpPr>
            <a:spLocks noGrp="1"/>
          </p:cNvSpPr>
          <p:nvPr>
            <p:ph type="sldNum" sz="quarter" idx="2"/>
          </p:nvPr>
        </p:nvSpPr>
        <p:spPr>
          <a:xfrm>
            <a:off x="11095176" y="6492874"/>
            <a:ext cx="258624" cy="248305"/>
          </a:xfrm>
        </p:spPr>
        <p:txBody>
          <a:bodyPr/>
          <a:lstStyle/>
          <a:p>
            <a:fld id="{86CB4B4D-7CA3-9044-876B-883B54F8677D}" type="slidenum">
              <a:rPr lang="en-IN" smtClean="0"/>
              <a:t>14</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18832438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6677-8CE6-4A4E-FC42-2806D15FC6E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29071A0-5E99-AB5D-6038-5E60669B00C0}"/>
              </a:ext>
            </a:extLst>
          </p:cNvPr>
          <p:cNvSpPr>
            <a:spLocks noGrp="1"/>
          </p:cNvSpPr>
          <p:nvPr>
            <p:ph type="body" sz="quarter" idx="1"/>
          </p:nvPr>
        </p:nvSpPr>
        <p:spPr/>
        <p:txBody>
          <a:bodyPr/>
          <a:lstStyle/>
          <a:p>
            <a:endParaRPr lang="en-IN"/>
          </a:p>
        </p:txBody>
      </p:sp>
      <p:sp>
        <p:nvSpPr>
          <p:cNvPr id="4" name="Text Placeholder 3">
            <a:extLst>
              <a:ext uri="{FF2B5EF4-FFF2-40B4-BE49-F238E27FC236}">
                <a16:creationId xmlns:a16="http://schemas.microsoft.com/office/drawing/2014/main" id="{FD419722-7CD1-5160-C235-C458EF6FF4E6}"/>
              </a:ext>
            </a:extLst>
          </p:cNvPr>
          <p:cNvSpPr>
            <a:spLocks noGrp="1"/>
          </p:cNvSpPr>
          <p:nvPr>
            <p:ph type="body" sz="quarter" idx="21"/>
          </p:nvPr>
        </p:nvSpPr>
        <p:spPr/>
        <p:txBody>
          <a:bodyPr/>
          <a:lstStyle/>
          <a:p>
            <a:endParaRPr lang="en-IN"/>
          </a:p>
        </p:txBody>
      </p:sp>
      <p:pic>
        <p:nvPicPr>
          <p:cNvPr id="6" name="Picture 5">
            <a:extLst>
              <a:ext uri="{FF2B5EF4-FFF2-40B4-BE49-F238E27FC236}">
                <a16:creationId xmlns:a16="http://schemas.microsoft.com/office/drawing/2014/main" id="{439D8973-8138-6AD1-D527-61C4AF104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397" y="0"/>
            <a:ext cx="10569206" cy="6182591"/>
          </a:xfrm>
          <a:prstGeom prst="rect">
            <a:avLst/>
          </a:prstGeom>
        </p:spPr>
      </p:pic>
      <p:sp>
        <p:nvSpPr>
          <p:cNvPr id="5" name="Slide Number Placeholder 4"/>
          <p:cNvSpPr>
            <a:spLocks noGrp="1"/>
          </p:cNvSpPr>
          <p:nvPr>
            <p:ph type="sldNum" sz="quarter" idx="2"/>
          </p:nvPr>
        </p:nvSpPr>
        <p:spPr>
          <a:xfrm>
            <a:off x="11096764" y="6492875"/>
            <a:ext cx="258624" cy="248305"/>
          </a:xfrm>
        </p:spPr>
        <p:txBody>
          <a:bodyPr/>
          <a:lstStyle/>
          <a:p>
            <a:fld id="{86CB4B4D-7CA3-9044-876B-883B54F8677D}" type="slidenum">
              <a:rPr lang="en-IN" smtClean="0"/>
              <a:t>15</a:t>
            </a:fld>
            <a:endParaRPr lang="en-IN"/>
          </a:p>
        </p:txBody>
      </p:sp>
      <p:sp>
        <p:nvSpPr>
          <p:cNvPr id="7"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49325938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256221-9512-C776-A6A9-DC572AC1DD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262" y="1351304"/>
            <a:ext cx="5887738" cy="3520021"/>
          </a:xfrm>
          <a:prstGeom prst="rect">
            <a:avLst/>
          </a:prstGeom>
        </p:spPr>
      </p:pic>
      <p:sp>
        <p:nvSpPr>
          <p:cNvPr id="7" name="TextBox 6">
            <a:extLst>
              <a:ext uri="{FF2B5EF4-FFF2-40B4-BE49-F238E27FC236}">
                <a16:creationId xmlns:a16="http://schemas.microsoft.com/office/drawing/2014/main" id="{D451E5E9-E59D-5F07-3538-249D39B71405}"/>
              </a:ext>
            </a:extLst>
          </p:cNvPr>
          <p:cNvSpPr txBox="1"/>
          <p:nvPr/>
        </p:nvSpPr>
        <p:spPr>
          <a:xfrm>
            <a:off x="3094479" y="302901"/>
            <a:ext cx="5781367"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Output</a:t>
            </a:r>
            <a:endParaRPr kumimoji="0" lang="en-IN"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3" name="TextBox 2">
            <a:extLst>
              <a:ext uri="{FF2B5EF4-FFF2-40B4-BE49-F238E27FC236}">
                <a16:creationId xmlns:a16="http://schemas.microsoft.com/office/drawing/2014/main" id="{40263AFE-63FA-8D4D-056B-99FDE1A36377}"/>
              </a:ext>
            </a:extLst>
          </p:cNvPr>
          <p:cNvSpPr txBox="1"/>
          <p:nvPr/>
        </p:nvSpPr>
        <p:spPr>
          <a:xfrm>
            <a:off x="3917373" y="5018809"/>
            <a:ext cx="6857998"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Fig: </a:t>
            </a:r>
            <a:r>
              <a:rPr kumimoji="0" lang="en-IN" sz="20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Chat analyser and </a:t>
            </a:r>
            <a:r>
              <a:rPr lang="en-IN" sz="2000" dirty="0">
                <a:latin typeface="Times New Roman" panose="02020603050405020304" pitchFamily="18" charset="0"/>
                <a:cs typeface="Times New Roman" panose="02020603050405020304" pitchFamily="18" charset="0"/>
              </a:rPr>
              <a:t>e</a:t>
            </a:r>
            <a:r>
              <a:rPr kumimoji="0" lang="en-IN" sz="20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motion detector</a:t>
            </a:r>
          </a:p>
        </p:txBody>
      </p:sp>
      <p:sp>
        <p:nvSpPr>
          <p:cNvPr id="2" name="Slide Number Placeholder 1"/>
          <p:cNvSpPr>
            <a:spLocks noGrp="1"/>
          </p:cNvSpPr>
          <p:nvPr>
            <p:ph type="sldNum" sz="quarter" idx="2"/>
          </p:nvPr>
        </p:nvSpPr>
        <p:spPr>
          <a:xfrm>
            <a:off x="11095176" y="6502400"/>
            <a:ext cx="258624" cy="248305"/>
          </a:xfrm>
        </p:spPr>
        <p:txBody>
          <a:bodyPr/>
          <a:lstStyle/>
          <a:p>
            <a:fld id="{86CB4B4D-7CA3-9044-876B-883B54F8677D}" type="slidenum">
              <a:rPr lang="en-IN" smtClean="0"/>
              <a:t>16</a:t>
            </a:fld>
            <a:endParaRPr lang="en-IN"/>
          </a:p>
        </p:txBody>
      </p:sp>
      <p:sp>
        <p:nvSpPr>
          <p:cNvPr id="8"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pic>
        <p:nvPicPr>
          <p:cNvPr id="5" name="Picture 4">
            <a:extLst>
              <a:ext uri="{FF2B5EF4-FFF2-40B4-BE49-F238E27FC236}">
                <a16:creationId xmlns:a16="http://schemas.microsoft.com/office/drawing/2014/main" id="{6B6B7C32-A4A0-11AE-2D85-9813DCA920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394" y="1199535"/>
            <a:ext cx="5938605" cy="3888856"/>
          </a:xfrm>
          <a:prstGeom prst="rect">
            <a:avLst/>
          </a:prstGeom>
        </p:spPr>
      </p:pic>
    </p:spTree>
    <p:extLst>
      <p:ext uri="{BB962C8B-B14F-4D97-AF65-F5344CB8AC3E}">
        <p14:creationId xmlns:p14="http://schemas.microsoft.com/office/powerpoint/2010/main" val="385433385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CE0E-AC95-083D-8A52-28B0AFDFC122}"/>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TASK 2</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D41FC3C-FC75-92BB-F055-8193A200D8C2}"/>
              </a:ext>
            </a:extLst>
          </p:cNvPr>
          <p:cNvSpPr txBox="1"/>
          <p:nvPr/>
        </p:nvSpPr>
        <p:spPr>
          <a:xfrm>
            <a:off x="838199" y="3009970"/>
            <a:ext cx="10515599"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dirty="0">
                <a:solidFill>
                  <a:schemeClr val="tx1"/>
                </a:solidFill>
                <a:latin typeface="Times New Roman" panose="02020603050405020304" pitchFamily="18" charset="0"/>
                <a:cs typeface="Times New Roman" panose="02020603050405020304" pitchFamily="18" charset="0"/>
              </a:rPr>
              <a:t>Development of an image classification model for a custom dataset</a:t>
            </a:r>
            <a:endParaRPr lang="en-IN" sz="3600" dirty="0"/>
          </a:p>
        </p:txBody>
      </p:sp>
      <p:sp>
        <p:nvSpPr>
          <p:cNvPr id="3" name="Slide Number Placeholder 2"/>
          <p:cNvSpPr>
            <a:spLocks noGrp="1"/>
          </p:cNvSpPr>
          <p:nvPr>
            <p:ph type="sldNum" sz="quarter" idx="2"/>
          </p:nvPr>
        </p:nvSpPr>
        <p:spPr>
          <a:xfrm>
            <a:off x="11095174" y="6492875"/>
            <a:ext cx="258624" cy="248305"/>
          </a:xfrm>
        </p:spPr>
        <p:txBody>
          <a:bodyPr/>
          <a:lstStyle/>
          <a:p>
            <a:fld id="{86CB4B4D-7CA3-9044-876B-883B54F8677D}" type="slidenum">
              <a:rPr lang="en-IN" smtClean="0"/>
              <a:t>17</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329426124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ABSTRACT:-"/>
          <p:cNvSpPr txBox="1">
            <a:spLocks noGrp="1"/>
          </p:cNvSpPr>
          <p:nvPr>
            <p:ph type="title"/>
          </p:nvPr>
        </p:nvSpPr>
        <p:spPr>
          <a:xfrm>
            <a:off x="839787" y="365125"/>
            <a:ext cx="10515601" cy="775417"/>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A</a:t>
            </a:r>
            <a:r>
              <a:rPr lang="en-US" sz="3200" b="1" dirty="0">
                <a:latin typeface="Times New Roman" panose="02020603050405020304" pitchFamily="18" charset="0"/>
                <a:cs typeface="Times New Roman" panose="02020603050405020304" pitchFamily="18" charset="0"/>
              </a:rPr>
              <a:t>bstract</a:t>
            </a:r>
            <a:endParaRPr sz="3200" b="1" dirty="0">
              <a:latin typeface="Times New Roman" panose="02020603050405020304" pitchFamily="18" charset="0"/>
              <a:cs typeface="Times New Roman" panose="02020603050405020304" pitchFamily="18" charset="0"/>
            </a:endParaRPr>
          </a:p>
        </p:txBody>
      </p:sp>
      <p:sp>
        <p:nvSpPr>
          <p:cNvPr id="175" name="Slide Subtitle"/>
          <p:cNvSpPr txBox="1">
            <a:spLocks noGrp="1"/>
          </p:cNvSpPr>
          <p:nvPr>
            <p:ph type="body" sz="quarter" idx="1"/>
          </p:nvPr>
        </p:nvSpPr>
        <p:spPr>
          <a:xfrm>
            <a:off x="1593346" y="-795561"/>
            <a:ext cx="10985501" cy="467390"/>
          </a:xfrm>
          <a:prstGeom prst="rect">
            <a:avLst/>
          </a:prstGeom>
        </p:spPr>
        <p:txBody>
          <a:bodyPr/>
          <a:lstStyle/>
          <a:p>
            <a:endParaRPr/>
          </a:p>
        </p:txBody>
      </p:sp>
      <p:sp>
        <p:nvSpPr>
          <p:cNvPr id="176" name="Image classification is one of the most widely used applications of Artificial Intelligence and Computer Vision. The aim of this task is to design and implement an image classification model for a custom dataset, where images belong to specific categorie"/>
          <p:cNvSpPr txBox="1">
            <a:spLocks noGrp="1"/>
          </p:cNvSpPr>
          <p:nvPr>
            <p:ph type="body" idx="21"/>
          </p:nvPr>
        </p:nvSpPr>
        <p:spPr>
          <a:xfrm>
            <a:off x="839787" y="1474837"/>
            <a:ext cx="10515601" cy="356475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lvl1pPr algn="just">
              <a:defRPr sz="5000"/>
            </a:lvl1pPr>
          </a:lstStyle>
          <a:p>
            <a:pPr>
              <a:buFont typeface="Arial" panose="020B0604020202020204" pitchFamily="34" charset="0"/>
              <a:buChar char="•"/>
            </a:pPr>
            <a:r>
              <a:rPr sz="2400" dirty="0">
                <a:latin typeface="Times New Roman" panose="02020603050405020304" pitchFamily="18" charset="0"/>
                <a:cs typeface="Times New Roman" panose="02020603050405020304" pitchFamily="18" charset="0"/>
              </a:rPr>
              <a:t>Image classification is one of the most widely used applications of Artificial Intelligence and Computer Vision. </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sz="2400" dirty="0">
                <a:latin typeface="Times New Roman" panose="02020603050405020304" pitchFamily="18" charset="0"/>
                <a:cs typeface="Times New Roman" panose="02020603050405020304" pitchFamily="18" charset="0"/>
              </a:rPr>
              <a:t>The aim of this task is to design and implement an image classification model for a custom dataset, where images belong to specific categories relevant to the chosen domain (e.g., medical images, plant diseases, traffic signs, or product categories).</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sz="2400" dirty="0">
                <a:latin typeface="Times New Roman" panose="02020603050405020304" pitchFamily="18" charset="0"/>
                <a:cs typeface="Times New Roman" panose="02020603050405020304" pitchFamily="18" charset="0"/>
              </a:rPr>
              <a:t> The project involves dataset preprocessing, model training using Convolutional Neural Networks (CNNs) and transfer learning, evaluation using performance metrics, and deployment of a prototype system. </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sz="2400" dirty="0">
                <a:latin typeface="Times New Roman" panose="02020603050405020304" pitchFamily="18" charset="0"/>
                <a:cs typeface="Times New Roman" panose="02020603050405020304" pitchFamily="18" charset="0"/>
              </a:rPr>
              <a:t>The outcome will demonstrate the practical use of AI in solving real-world problems through automated image recognition.</a:t>
            </a: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18</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Existing:-"/>
          <p:cNvSpPr txBox="1">
            <a:spLocks noGrp="1"/>
          </p:cNvSpPr>
          <p:nvPr>
            <p:ph type="title"/>
          </p:nvPr>
        </p:nvSpPr>
        <p:spPr>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E</a:t>
            </a:r>
            <a:r>
              <a:rPr lang="en-US" sz="3200" b="1" dirty="0">
                <a:latin typeface="Times New Roman" panose="02020603050405020304" pitchFamily="18" charset="0"/>
                <a:cs typeface="Times New Roman" panose="02020603050405020304" pitchFamily="18" charset="0"/>
              </a:rPr>
              <a:t>xisting System</a:t>
            </a:r>
            <a:endParaRPr sz="3200" b="1" dirty="0">
              <a:latin typeface="Times New Roman" panose="02020603050405020304" pitchFamily="18" charset="0"/>
              <a:cs typeface="Times New Roman" panose="02020603050405020304" pitchFamily="18" charset="0"/>
            </a:endParaRPr>
          </a:p>
        </p:txBody>
      </p:sp>
      <p:sp>
        <p:nvSpPr>
          <p:cNvPr id="187" name="Slide Subtitle"/>
          <p:cNvSpPr txBox="1">
            <a:spLocks noGrp="1"/>
          </p:cNvSpPr>
          <p:nvPr>
            <p:ph type="body" sz="quarter" idx="1"/>
          </p:nvPr>
        </p:nvSpPr>
        <p:spPr>
          <a:xfrm>
            <a:off x="1236451" y="-920352"/>
            <a:ext cx="10985501" cy="467390"/>
          </a:xfrm>
          <a:prstGeom prst="rect">
            <a:avLst/>
          </a:prstGeom>
        </p:spPr>
        <p:txBody>
          <a:bodyPr/>
          <a:lstStyle/>
          <a:p>
            <a:endParaRPr/>
          </a:p>
        </p:txBody>
      </p:sp>
      <p:sp>
        <p:nvSpPr>
          <p:cNvPr id="188" name="Existing image classification models (like Google Vision API, standard datasets such as MNIST or CIFAR-10) provide pre-trained solutions.…"/>
          <p:cNvSpPr txBox="1">
            <a:spLocks noGrp="1"/>
          </p:cNvSpPr>
          <p:nvPr>
            <p:ph type="body" idx="21"/>
          </p:nvPr>
        </p:nvSpPr>
        <p:spPr>
          <a:xfrm>
            <a:off x="833437" y="1690688"/>
            <a:ext cx="10518776" cy="197473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pPr algn="just">
              <a:buFont typeface="Arial" panose="020B0604020202020204" pitchFamily="34" charset="0"/>
              <a:buChar char="•"/>
              <a:defRPr sz="2400">
                <a:latin typeface="Times New Roman"/>
                <a:ea typeface="Times New Roman"/>
                <a:cs typeface="Times New Roman"/>
                <a:sym typeface="Times New Roman"/>
              </a:defRPr>
            </a:pPr>
            <a:r>
              <a:rPr lang="en-US" sz="2400" dirty="0"/>
              <a:t>The existing system uses pre-trained Convolutional Neural Network (CNN) models for image classification.</a:t>
            </a:r>
          </a:p>
          <a:p>
            <a:pPr algn="just">
              <a:defRPr sz="2400">
                <a:latin typeface="Times New Roman"/>
                <a:ea typeface="Times New Roman"/>
                <a:cs typeface="Times New Roman"/>
                <a:sym typeface="Times New Roman"/>
              </a:defRPr>
            </a:pPr>
            <a:r>
              <a:rPr lang="en-US" sz="2400" dirty="0"/>
              <a:t>Uses image classification models (like Google Vision API, standard datasets such as MNIST or CIFAR-10) which provides pre-trained solutions. </a:t>
            </a:r>
          </a:p>
          <a:p>
            <a:pPr algn="just">
              <a:defRPr sz="2400">
                <a:latin typeface="Times New Roman"/>
                <a:ea typeface="Times New Roman"/>
                <a:cs typeface="Times New Roman"/>
                <a:sym typeface="Times New Roman"/>
              </a:defRPr>
            </a:pPr>
            <a:r>
              <a:rPr lang="en-US" sz="2400" dirty="0"/>
              <a:t>Designed for general-purpose classification tasks. </a:t>
            </a:r>
          </a:p>
        </p:txBody>
      </p:sp>
      <p:sp>
        <p:nvSpPr>
          <p:cNvPr id="2" name="Slide Number Placeholder 1"/>
          <p:cNvSpPr>
            <a:spLocks noGrp="1"/>
          </p:cNvSpPr>
          <p:nvPr>
            <p:ph type="sldNum" sz="quarter" idx="2"/>
          </p:nvPr>
        </p:nvSpPr>
        <p:spPr>
          <a:xfrm>
            <a:off x="11093589" y="6492875"/>
            <a:ext cx="258624" cy="248305"/>
          </a:xfrm>
        </p:spPr>
        <p:txBody>
          <a:bodyPr/>
          <a:lstStyle/>
          <a:p>
            <a:fld id="{86CB4B4D-7CA3-9044-876B-883B54F8677D}" type="slidenum">
              <a:rPr lang="en-IN" smtClean="0"/>
              <a:t>19</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Disadvantages:-"/>
          <p:cNvSpPr txBox="1">
            <a:spLocks noGrp="1"/>
          </p:cNvSpPr>
          <p:nvPr>
            <p:ph type="title"/>
          </p:nvPr>
        </p:nvSpPr>
        <p:spPr>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D</a:t>
            </a:r>
            <a:r>
              <a:rPr lang="en-US" sz="3200" b="1" dirty="0">
                <a:latin typeface="Times New Roman" panose="02020603050405020304" pitchFamily="18" charset="0"/>
                <a:cs typeface="Times New Roman" panose="02020603050405020304" pitchFamily="18" charset="0"/>
              </a:rPr>
              <a:t>isadvantages</a:t>
            </a:r>
            <a:endParaRPr sz="3200" b="1" dirty="0">
              <a:latin typeface="Times New Roman" panose="02020603050405020304" pitchFamily="18" charset="0"/>
              <a:cs typeface="Times New Roman" panose="02020603050405020304" pitchFamily="18" charset="0"/>
            </a:endParaRPr>
          </a:p>
        </p:txBody>
      </p:sp>
      <p:sp>
        <p:nvSpPr>
          <p:cNvPr id="191" name="Slide Subtitle"/>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p:cNvSpPr txBox="1">
            <a:spLocks noGrp="1"/>
          </p:cNvSpPr>
          <p:nvPr>
            <p:ph type="body" idx="21"/>
          </p:nvPr>
        </p:nvSpPr>
        <p:spPr>
          <a:xfrm>
            <a:off x="836612" y="1066775"/>
            <a:ext cx="10518776" cy="277285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sz="2400" dirty="0">
                <a:latin typeface="Times New Roman" panose="02020603050405020304" pitchFamily="18" charset="0"/>
                <a:cs typeface="Times New Roman" panose="02020603050405020304" pitchFamily="18" charset="0"/>
              </a:rPr>
              <a:t>Limited accuracy on domain-specific/custom datasets.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Dependence on public datasets.</a:t>
            </a:r>
            <a:endParaRPr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Many commercial APIs are costly.</a:t>
            </a:r>
            <a:endParaRPr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sz="2400" dirty="0">
                <a:latin typeface="Times New Roman" panose="02020603050405020304" pitchFamily="18" charset="0"/>
                <a:cs typeface="Times New Roman" panose="02020603050405020304" pitchFamily="18" charset="0"/>
              </a:rPr>
              <a:t>Systems may fail in real world environments with noisy, low quality or imbalanced datasets.</a:t>
            </a: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20</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roposal:-"/>
          <p:cNvSpPr txBox="1">
            <a:spLocks noGrp="1"/>
          </p:cNvSpPr>
          <p:nvPr>
            <p:ph type="title"/>
          </p:nvPr>
        </p:nvSpPr>
        <p:spPr>
          <a:xfrm>
            <a:off x="838199" y="0"/>
            <a:ext cx="10515601" cy="1325563"/>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P</a:t>
            </a:r>
            <a:r>
              <a:rPr lang="en-US" sz="3200" b="1" dirty="0">
                <a:latin typeface="Times New Roman" panose="02020603050405020304" pitchFamily="18" charset="0"/>
                <a:cs typeface="Times New Roman" panose="02020603050405020304" pitchFamily="18" charset="0"/>
              </a:rPr>
              <a:t>roposed System</a:t>
            </a:r>
            <a:endParaRPr sz="3200" b="1" dirty="0">
              <a:latin typeface="Times New Roman" panose="02020603050405020304" pitchFamily="18" charset="0"/>
              <a:cs typeface="Times New Roman" panose="02020603050405020304" pitchFamily="18" charset="0"/>
            </a:endParaRPr>
          </a:p>
        </p:txBody>
      </p:sp>
      <p:sp>
        <p:nvSpPr>
          <p:cNvPr id="180" name="Accepts input images from a custom dataset.…"/>
          <p:cNvSpPr txBox="1">
            <a:spLocks noGrp="1"/>
          </p:cNvSpPr>
          <p:nvPr>
            <p:ph type="body" idx="21"/>
          </p:nvPr>
        </p:nvSpPr>
        <p:spPr>
          <a:xfrm>
            <a:off x="924232" y="1042220"/>
            <a:ext cx="10343534" cy="357067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Takes input images from a custom dataset.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Preprocess images (resize, normalize, and augment them to improve training).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Train two models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 custom CNN model and transfer learning model (like </a:t>
            </a: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 Evaluate the model using accuracy, precision, recall, and F1-score.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Deploys a web based demo application (using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/Flask) where users can upload an image and get classification results instantly. This way, the project is both educational and practically useful.</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138454" y="6502400"/>
            <a:ext cx="258624" cy="248305"/>
          </a:xfrm>
        </p:spPr>
        <p:txBody>
          <a:bodyPr/>
          <a:lstStyle/>
          <a:p>
            <a:fld id="{86CB4B4D-7CA3-9044-876B-883B54F8677D}" type="slidenum">
              <a:rPr lang="en-IN" smtClean="0"/>
              <a:t>21</a:t>
            </a:fld>
            <a:endParaRPr lang="en-IN" dirty="0"/>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Advantages:-"/>
          <p:cNvSpPr txBox="1">
            <a:spLocks noGrp="1"/>
          </p:cNvSpPr>
          <p:nvPr>
            <p:ph type="title"/>
          </p:nvPr>
        </p:nvSpPr>
        <p:spPr>
          <a:xfrm>
            <a:off x="839787" y="365126"/>
            <a:ext cx="10515601" cy="952398"/>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A</a:t>
            </a:r>
            <a:r>
              <a:rPr lang="en-US" sz="3200" b="1" dirty="0">
                <a:latin typeface="Times New Roman" panose="02020603050405020304" pitchFamily="18" charset="0"/>
                <a:cs typeface="Times New Roman" panose="02020603050405020304" pitchFamily="18" charset="0"/>
              </a:rPr>
              <a:t>dvantages</a:t>
            </a:r>
            <a:endParaRPr sz="3200" b="1" dirty="0">
              <a:latin typeface="Times New Roman" panose="02020603050405020304" pitchFamily="18" charset="0"/>
              <a:cs typeface="Times New Roman" panose="02020603050405020304" pitchFamily="18" charset="0"/>
            </a:endParaRPr>
          </a:p>
        </p:txBody>
      </p:sp>
      <p:sp>
        <p:nvSpPr>
          <p:cNvPr id="183" name="Slide Subtitle"/>
          <p:cNvSpPr txBox="1">
            <a:spLocks noGrp="1"/>
          </p:cNvSpPr>
          <p:nvPr>
            <p:ph type="body" sz="quarter" idx="1"/>
          </p:nvPr>
        </p:nvSpPr>
        <p:spPr>
          <a:xfrm>
            <a:off x="1927216" y="-1231196"/>
            <a:ext cx="10985502" cy="467390"/>
          </a:xfrm>
          <a:prstGeom prst="rect">
            <a:avLst/>
          </a:prstGeom>
        </p:spPr>
        <p:txBody>
          <a:bodyPr/>
          <a:lstStyle/>
          <a:p>
            <a:endParaRPr/>
          </a:p>
        </p:txBody>
      </p:sp>
      <p:sp>
        <p:nvSpPr>
          <p:cNvPr id="184" name="Accepts input images from a custom dataset.…"/>
          <p:cNvSpPr txBox="1">
            <a:spLocks noGrp="1"/>
          </p:cNvSpPr>
          <p:nvPr>
            <p:ph type="body" idx="21"/>
          </p:nvPr>
        </p:nvSpPr>
        <p:spPr>
          <a:xfrm>
            <a:off x="681908" y="998193"/>
            <a:ext cx="10985500" cy="289652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Saves time by automatically classifying images.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human mistakes compared to manual classification.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applied to many areas: healthcare, farming, security, retail, etc.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fast and real-time results.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re-used and scaled for different datasets.</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6764" y="6492874"/>
            <a:ext cx="258624" cy="248305"/>
          </a:xfrm>
        </p:spPr>
        <p:txBody>
          <a:bodyPr/>
          <a:lstStyle/>
          <a:p>
            <a:fld id="{86CB4B4D-7CA3-9044-876B-883B54F8677D}" type="slidenum">
              <a:rPr lang="en-IN" smtClean="0"/>
              <a:t>22</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E4FFE-8E7E-4F2C-DD3C-0D23AC5164DA}"/>
              </a:ext>
            </a:extLst>
          </p:cNvPr>
          <p:cNvSpPr>
            <a:spLocks noGrp="1"/>
          </p:cNvSpPr>
          <p:nvPr>
            <p:ph type="title"/>
          </p:nvPr>
        </p:nvSpPr>
        <p:spPr>
          <a:xfrm>
            <a:off x="839787" y="116821"/>
            <a:ext cx="10515601" cy="923348"/>
          </a:xfrm>
        </p:spPr>
        <p:txBody>
          <a:bodyPr>
            <a:normAutofit/>
          </a:bodyPr>
          <a:lstStyle/>
          <a:p>
            <a:pPr algn="ctr"/>
            <a:r>
              <a:rPr lang="en-IN" sz="3200" b="1" dirty="0">
                <a:latin typeface="Times New Roman" panose="02020603050405020304" pitchFamily="18" charset="0"/>
                <a:cs typeface="Times New Roman" panose="02020603050405020304" pitchFamily="18" charset="0"/>
              </a:rPr>
              <a:t>Source Code</a:t>
            </a:r>
          </a:p>
        </p:txBody>
      </p:sp>
      <p:sp>
        <p:nvSpPr>
          <p:cNvPr id="3" name="Text Placeholder 2">
            <a:extLst>
              <a:ext uri="{FF2B5EF4-FFF2-40B4-BE49-F238E27FC236}">
                <a16:creationId xmlns:a16="http://schemas.microsoft.com/office/drawing/2014/main" id="{187E493A-B62D-CB4B-A6BE-95358E4054C7}"/>
              </a:ext>
            </a:extLst>
          </p:cNvPr>
          <p:cNvSpPr>
            <a:spLocks noGrp="1"/>
          </p:cNvSpPr>
          <p:nvPr>
            <p:ph type="body" sz="quarter" idx="1"/>
          </p:nvPr>
        </p:nvSpPr>
        <p:spPr/>
        <p:txBody>
          <a:bodyPr/>
          <a:lstStyle/>
          <a:p>
            <a:endParaRPr lang="en-IN"/>
          </a:p>
        </p:txBody>
      </p:sp>
      <p:sp>
        <p:nvSpPr>
          <p:cNvPr id="4" name="Text Placeholder 3">
            <a:extLst>
              <a:ext uri="{FF2B5EF4-FFF2-40B4-BE49-F238E27FC236}">
                <a16:creationId xmlns:a16="http://schemas.microsoft.com/office/drawing/2014/main" id="{C3DEC1B7-0618-0A9F-ECBD-F93A4D591AE2}"/>
              </a:ext>
            </a:extLst>
          </p:cNvPr>
          <p:cNvSpPr>
            <a:spLocks noGrp="1"/>
          </p:cNvSpPr>
          <p:nvPr>
            <p:ph type="body" sz="quarter" idx="21"/>
          </p:nvPr>
        </p:nvSpPr>
        <p:spPr/>
        <p:txBody>
          <a:bodyPr/>
          <a:lstStyle/>
          <a:p>
            <a:endParaRPr lang="en-IN"/>
          </a:p>
        </p:txBody>
      </p:sp>
      <p:pic>
        <p:nvPicPr>
          <p:cNvPr id="6" name="Picture 5">
            <a:extLst>
              <a:ext uri="{FF2B5EF4-FFF2-40B4-BE49-F238E27FC236}">
                <a16:creationId xmlns:a16="http://schemas.microsoft.com/office/drawing/2014/main" id="{E1B6DB88-54A6-9888-21B4-FBF731ED0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23" y="924233"/>
            <a:ext cx="10874477" cy="5358580"/>
          </a:xfrm>
          <a:prstGeom prst="rect">
            <a:avLst/>
          </a:prstGeom>
        </p:spPr>
      </p:pic>
      <p:sp>
        <p:nvSpPr>
          <p:cNvPr id="5" name="Slide Number Placeholder 4"/>
          <p:cNvSpPr>
            <a:spLocks noGrp="1"/>
          </p:cNvSpPr>
          <p:nvPr>
            <p:ph type="sldNum" sz="quarter" idx="2"/>
          </p:nvPr>
        </p:nvSpPr>
        <p:spPr>
          <a:xfrm>
            <a:off x="11096764" y="6492874"/>
            <a:ext cx="258624" cy="248305"/>
          </a:xfrm>
        </p:spPr>
        <p:txBody>
          <a:bodyPr/>
          <a:lstStyle/>
          <a:p>
            <a:fld id="{86CB4B4D-7CA3-9044-876B-883B54F8677D}" type="slidenum">
              <a:rPr lang="en-IN" smtClean="0"/>
              <a:t>23</a:t>
            </a:fld>
            <a:endParaRPr lang="en-IN" dirty="0"/>
          </a:p>
        </p:txBody>
      </p:sp>
      <p:sp>
        <p:nvSpPr>
          <p:cNvPr id="7"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90781309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966A6-E8B8-C870-9F1E-CDD4422DAAF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6468D25-FD63-1272-ED72-989862E77DA2}"/>
              </a:ext>
            </a:extLst>
          </p:cNvPr>
          <p:cNvSpPr>
            <a:spLocks noGrp="1"/>
          </p:cNvSpPr>
          <p:nvPr>
            <p:ph type="body" sz="quarter" idx="1"/>
          </p:nvPr>
        </p:nvSpPr>
        <p:spPr/>
        <p:txBody>
          <a:bodyPr/>
          <a:lstStyle/>
          <a:p>
            <a:endParaRPr lang="en-IN"/>
          </a:p>
        </p:txBody>
      </p:sp>
      <p:sp>
        <p:nvSpPr>
          <p:cNvPr id="4" name="Text Placeholder 3">
            <a:extLst>
              <a:ext uri="{FF2B5EF4-FFF2-40B4-BE49-F238E27FC236}">
                <a16:creationId xmlns:a16="http://schemas.microsoft.com/office/drawing/2014/main" id="{C0717B70-27F7-CB6E-CF32-9EE6F85D2341}"/>
              </a:ext>
            </a:extLst>
          </p:cNvPr>
          <p:cNvSpPr>
            <a:spLocks noGrp="1"/>
          </p:cNvSpPr>
          <p:nvPr>
            <p:ph type="body" sz="quarter" idx="21"/>
          </p:nvPr>
        </p:nvSpPr>
        <p:spPr/>
        <p:txBody>
          <a:bodyPr/>
          <a:lstStyle/>
          <a:p>
            <a:endParaRPr lang="en-IN"/>
          </a:p>
        </p:txBody>
      </p:sp>
      <p:pic>
        <p:nvPicPr>
          <p:cNvPr id="6" name="Picture 5">
            <a:extLst>
              <a:ext uri="{FF2B5EF4-FFF2-40B4-BE49-F238E27FC236}">
                <a16:creationId xmlns:a16="http://schemas.microsoft.com/office/drawing/2014/main" id="{D728A8D9-386F-D3CC-5AF3-F87BF4625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864" y="206477"/>
            <a:ext cx="10702884" cy="6072425"/>
          </a:xfrm>
          <a:prstGeom prst="rect">
            <a:avLst/>
          </a:prstGeom>
        </p:spPr>
      </p:pic>
      <p:sp>
        <p:nvSpPr>
          <p:cNvPr id="5" name="Slide Number Placeholder 4"/>
          <p:cNvSpPr>
            <a:spLocks noGrp="1"/>
          </p:cNvSpPr>
          <p:nvPr>
            <p:ph type="sldNum" sz="quarter" idx="2"/>
          </p:nvPr>
        </p:nvSpPr>
        <p:spPr>
          <a:xfrm>
            <a:off x="11096764" y="6492875"/>
            <a:ext cx="258624" cy="248305"/>
          </a:xfrm>
        </p:spPr>
        <p:txBody>
          <a:bodyPr/>
          <a:lstStyle/>
          <a:p>
            <a:fld id="{86CB4B4D-7CA3-9044-876B-883B54F8677D}" type="slidenum">
              <a:rPr lang="en-IN" smtClean="0"/>
              <a:t>24</a:t>
            </a:fld>
            <a:endParaRPr lang="en-IN" dirty="0"/>
          </a:p>
        </p:txBody>
      </p:sp>
      <p:sp>
        <p:nvSpPr>
          <p:cNvPr id="7"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354002351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615A8F-DDF0-D60D-A462-93238F4F9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3492" y="1354394"/>
            <a:ext cx="7865918" cy="4069661"/>
          </a:xfrm>
          <a:prstGeom prst="rect">
            <a:avLst/>
          </a:prstGeom>
        </p:spPr>
      </p:pic>
      <p:sp>
        <p:nvSpPr>
          <p:cNvPr id="7" name="TextBox 6">
            <a:extLst>
              <a:ext uri="{FF2B5EF4-FFF2-40B4-BE49-F238E27FC236}">
                <a16:creationId xmlns:a16="http://schemas.microsoft.com/office/drawing/2014/main" id="{590639EA-A5AC-59D1-62AA-BDBB81B1E20D}"/>
              </a:ext>
            </a:extLst>
          </p:cNvPr>
          <p:cNvSpPr txBox="1"/>
          <p:nvPr/>
        </p:nvSpPr>
        <p:spPr>
          <a:xfrm>
            <a:off x="2890684" y="469511"/>
            <a:ext cx="5781367"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Output</a:t>
            </a:r>
            <a:endParaRPr kumimoji="0" lang="en-IN"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2" name="TextBox 1">
            <a:extLst>
              <a:ext uri="{FF2B5EF4-FFF2-40B4-BE49-F238E27FC236}">
                <a16:creationId xmlns:a16="http://schemas.microsoft.com/office/drawing/2014/main" id="{2A04B4B7-4505-8E0D-5545-5C8E9DE49611}"/>
              </a:ext>
            </a:extLst>
          </p:cNvPr>
          <p:cNvSpPr txBox="1"/>
          <p:nvPr/>
        </p:nvSpPr>
        <p:spPr>
          <a:xfrm>
            <a:off x="4166754" y="5439503"/>
            <a:ext cx="4374573"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24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Fig: </a:t>
            </a:r>
            <a:r>
              <a:rPr lang="en-IN" sz="2000" dirty="0">
                <a:latin typeface="Times New Roman" panose="02020603050405020304" pitchFamily="18" charset="0"/>
                <a:cs typeface="Times New Roman" panose="02020603050405020304" pitchFamily="18" charset="0"/>
              </a:rPr>
              <a:t>Image classification model</a:t>
            </a:r>
            <a:endParaRPr kumimoji="0" lang="en-IN"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3" name="Slide Number Placeholder 2"/>
          <p:cNvSpPr>
            <a:spLocks noGrp="1"/>
          </p:cNvSpPr>
          <p:nvPr>
            <p:ph type="sldNum" sz="quarter" idx="2"/>
          </p:nvPr>
        </p:nvSpPr>
        <p:spPr>
          <a:xfrm>
            <a:off x="11095176" y="6502400"/>
            <a:ext cx="258624" cy="248305"/>
          </a:xfrm>
        </p:spPr>
        <p:txBody>
          <a:bodyPr/>
          <a:lstStyle/>
          <a:p>
            <a:fld id="{86CB4B4D-7CA3-9044-876B-883B54F8677D}" type="slidenum">
              <a:rPr lang="en-IN" smtClean="0"/>
              <a:t>25</a:t>
            </a:fld>
            <a:endParaRPr lang="en-IN"/>
          </a:p>
        </p:txBody>
      </p:sp>
      <p:sp>
        <p:nvSpPr>
          <p:cNvPr id="8"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96638979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7F99-69B9-EDFC-50D5-1A596186E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281A8-8C79-4E6C-0467-0F285F26C092}"/>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TASK 3</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825073D-054C-8C33-B2A2-13B999BE0FEE}"/>
              </a:ext>
            </a:extLst>
          </p:cNvPr>
          <p:cNvSpPr txBox="1"/>
          <p:nvPr/>
        </p:nvSpPr>
        <p:spPr>
          <a:xfrm>
            <a:off x="838200" y="3105834"/>
            <a:ext cx="1051559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3600" dirty="0">
                <a:latin typeface="Times New Roman" panose="02020603050405020304" pitchFamily="18" charset="0"/>
                <a:cs typeface="Times New Roman" panose="02020603050405020304" pitchFamily="18" charset="0"/>
              </a:rPr>
              <a:t>Spam Email Classifier</a:t>
            </a:r>
            <a:endParaRPr lang="en-IN" sz="36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2"/>
          </p:nvPr>
        </p:nvSpPr>
        <p:spPr>
          <a:xfrm>
            <a:off x="11095176" y="6502400"/>
            <a:ext cx="258623" cy="241679"/>
          </a:xfrm>
        </p:spPr>
        <p:txBody>
          <a:bodyPr/>
          <a:lstStyle/>
          <a:p>
            <a:fld id="{86CB4B4D-7CA3-9044-876B-883B54F8677D}" type="slidenum">
              <a:rPr lang="en-IN" smtClean="0"/>
              <a:t>26</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401933961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Abstract :"/>
          <p:cNvSpPr txBox="1">
            <a:spLocks noGrp="1"/>
          </p:cNvSpPr>
          <p:nvPr>
            <p:ph type="title"/>
          </p:nvPr>
        </p:nvSpPr>
        <p:spPr>
          <a:xfrm>
            <a:off x="603250" y="539750"/>
            <a:ext cx="10985500" cy="716584"/>
          </a:xfrm>
          <a:prstGeom prst="rect">
            <a:avLst/>
          </a:prstGeom>
        </p:spPr>
        <p:txBody>
          <a:bodyPr>
            <a:normAutofit/>
          </a:bodyPr>
          <a:lstStyle>
            <a:lvl1pPr algn="ctr">
              <a:defRPr spc="-200">
                <a:latin typeface="Times New Roman"/>
                <a:ea typeface="Times New Roman"/>
                <a:cs typeface="Times New Roman"/>
                <a:sym typeface="Times New Roman"/>
              </a:defRPr>
            </a:lvl1pPr>
          </a:lstStyle>
          <a:p>
            <a:r>
              <a:rPr sz="3200" b="1" dirty="0"/>
              <a:t>A</a:t>
            </a:r>
            <a:r>
              <a:rPr lang="en-US" sz="3200" b="1" dirty="0"/>
              <a:t>bstract</a:t>
            </a:r>
            <a:endParaRPr sz="3200" b="1" dirty="0"/>
          </a:p>
        </p:txBody>
      </p:sp>
      <p:sp>
        <p:nvSpPr>
          <p:cNvPr id="176" name="Slide Subtitle"/>
          <p:cNvSpPr txBox="1">
            <a:spLocks noGrp="1"/>
          </p:cNvSpPr>
          <p:nvPr>
            <p:ph type="body" sz="quarter" idx="1"/>
          </p:nvPr>
        </p:nvSpPr>
        <p:spPr>
          <a:xfrm>
            <a:off x="787454" y="-678585"/>
            <a:ext cx="10985501" cy="467390"/>
          </a:xfrm>
          <a:prstGeom prst="rect">
            <a:avLst/>
          </a:prstGeom>
        </p:spPr>
        <p:txBody>
          <a:bodyPr/>
          <a:lstStyle/>
          <a:p>
            <a:endParaRPr/>
          </a:p>
        </p:txBody>
      </p:sp>
      <p:sp>
        <p:nvSpPr>
          <p:cNvPr id="177" name="Email spam is one of the most common cybersecurity threats, causing inconvenience, security breaches, and data theft. Traditional rule-based filters are ineffective against the evolving nature of spam. This project proposes an AI-based spam email classif"/>
          <p:cNvSpPr txBox="1">
            <a:spLocks noGrp="1"/>
          </p:cNvSpPr>
          <p:nvPr>
            <p:ph type="body" idx="21"/>
          </p:nvPr>
        </p:nvSpPr>
        <p:spPr>
          <a:xfrm>
            <a:off x="812033" y="768926"/>
            <a:ext cx="10567934" cy="459278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algn="just" defTabSz="228600">
              <a:lnSpc>
                <a:spcPct val="100000"/>
              </a:lnSpc>
              <a:spcBef>
                <a:spcPts val="0"/>
              </a:spcBef>
              <a:buSzTx/>
              <a:buFont typeface="Arial" panose="020B0604020202020204" pitchFamily="34" charset="0"/>
              <a:buChar char="•"/>
              <a:defRPr>
                <a:latin typeface="Times New Roman"/>
                <a:ea typeface="Times New Roman"/>
                <a:cs typeface="Times New Roman"/>
                <a:sym typeface="Times New Roman"/>
              </a:defRPr>
            </a:pPr>
            <a:r>
              <a:rPr sz="2400" dirty="0"/>
              <a:t>Email spam is one of the most common cybersecurity threats, causing inconvenience, security breaches, and data theft. </a:t>
            </a:r>
            <a:endParaRPr lang="en-IN" sz="2400" dirty="0"/>
          </a:p>
          <a:p>
            <a:pPr algn="just" defTabSz="228600">
              <a:lnSpc>
                <a:spcPct val="100000"/>
              </a:lnSpc>
              <a:spcBef>
                <a:spcPts val="0"/>
              </a:spcBef>
              <a:buSzTx/>
              <a:buFont typeface="Arial" panose="020B0604020202020204" pitchFamily="34" charset="0"/>
              <a:buChar char="•"/>
              <a:defRPr>
                <a:latin typeface="Times New Roman"/>
                <a:ea typeface="Times New Roman"/>
                <a:cs typeface="Times New Roman"/>
                <a:sym typeface="Times New Roman"/>
              </a:defRPr>
            </a:pPr>
            <a:r>
              <a:rPr sz="2400" dirty="0"/>
              <a:t>Traditional rule-based filters are ineffective against the evolving nature of spam.</a:t>
            </a:r>
            <a:endParaRPr lang="en-IN" sz="2400" dirty="0"/>
          </a:p>
          <a:p>
            <a:pPr algn="just" defTabSz="228600">
              <a:lnSpc>
                <a:spcPct val="100000"/>
              </a:lnSpc>
              <a:spcBef>
                <a:spcPts val="0"/>
              </a:spcBef>
              <a:buSzTx/>
              <a:buFont typeface="Arial" panose="020B0604020202020204" pitchFamily="34" charset="0"/>
              <a:buChar char="•"/>
              <a:defRPr>
                <a:latin typeface="Times New Roman"/>
                <a:ea typeface="Times New Roman"/>
                <a:cs typeface="Times New Roman"/>
                <a:sym typeface="Times New Roman"/>
              </a:defRPr>
            </a:pPr>
            <a:r>
              <a:rPr sz="2400" dirty="0"/>
              <a:t>This project proposes an AI-based spam email classifier that leverages Machine Learning (ML) and Natural Language Processing (NLP) to automatically identify and filter out spam messages.</a:t>
            </a:r>
            <a:endParaRPr lang="en-IN" sz="2400" dirty="0"/>
          </a:p>
          <a:p>
            <a:pPr algn="just" defTabSz="228600">
              <a:lnSpc>
                <a:spcPct val="100000"/>
              </a:lnSpc>
              <a:spcBef>
                <a:spcPts val="0"/>
              </a:spcBef>
              <a:buSzTx/>
              <a:buFont typeface="Arial" panose="020B0604020202020204" pitchFamily="34" charset="0"/>
              <a:buChar char="•"/>
              <a:defRPr>
                <a:latin typeface="Times New Roman"/>
                <a:ea typeface="Times New Roman"/>
                <a:cs typeface="Times New Roman"/>
                <a:sym typeface="Times New Roman"/>
              </a:defRPr>
            </a:pPr>
            <a:r>
              <a:rPr sz="2400" dirty="0"/>
              <a:t> By training the system on labeled datasets (spam vs. ham), the classifier learns textual and semantic patterns that distinguish spam from legitimate emails. </a:t>
            </a:r>
            <a:endParaRPr lang="en-IN" sz="2400" dirty="0"/>
          </a:p>
          <a:p>
            <a:pPr algn="just" defTabSz="228600">
              <a:lnSpc>
                <a:spcPct val="100000"/>
              </a:lnSpc>
              <a:spcBef>
                <a:spcPts val="0"/>
              </a:spcBef>
              <a:buSzTx/>
              <a:buFont typeface="Arial" panose="020B0604020202020204" pitchFamily="34" charset="0"/>
              <a:buChar char="•"/>
              <a:defRPr>
                <a:latin typeface="Times New Roman"/>
                <a:ea typeface="Times New Roman"/>
                <a:cs typeface="Times New Roman"/>
                <a:sym typeface="Times New Roman"/>
              </a:defRPr>
            </a:pPr>
            <a:r>
              <a:rPr sz="2400" dirty="0"/>
              <a:t>The aim is to build an efficient, accurate, and adaptive spam detection system that enhances user security and productivity.</a:t>
            </a:r>
          </a:p>
        </p:txBody>
      </p:sp>
      <p:sp>
        <p:nvSpPr>
          <p:cNvPr id="2" name="Slide Number Placeholder 1"/>
          <p:cNvSpPr>
            <a:spLocks noGrp="1"/>
          </p:cNvSpPr>
          <p:nvPr>
            <p:ph type="sldNum" sz="quarter" idx="2"/>
          </p:nvPr>
        </p:nvSpPr>
        <p:spPr>
          <a:xfrm>
            <a:off x="11121343" y="6489362"/>
            <a:ext cx="258624" cy="248305"/>
          </a:xfrm>
        </p:spPr>
        <p:txBody>
          <a:bodyPr/>
          <a:lstStyle/>
          <a:p>
            <a:fld id="{86CB4B4D-7CA3-9044-876B-883B54F8677D}" type="slidenum">
              <a:rPr lang="en-IN" smtClean="0"/>
              <a:t>27</a:t>
            </a:fld>
            <a:endParaRPr lang="en-IN"/>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98593-CE37-69F7-5BA1-D1EEA8DABE0A}"/>
            </a:ext>
          </a:extLst>
        </p:cNvPr>
        <p:cNvGrpSpPr/>
        <p:nvPr/>
      </p:nvGrpSpPr>
      <p:grpSpPr>
        <a:xfrm>
          <a:off x="0" y="0"/>
          <a:ext cx="0" cy="0"/>
          <a:chOff x="0" y="0"/>
          <a:chExt cx="0" cy="0"/>
        </a:xfrm>
      </p:grpSpPr>
      <p:sp>
        <p:nvSpPr>
          <p:cNvPr id="186" name="Existing:-">
            <a:extLst>
              <a:ext uri="{FF2B5EF4-FFF2-40B4-BE49-F238E27FC236}">
                <a16:creationId xmlns:a16="http://schemas.microsoft.com/office/drawing/2014/main" id="{2ACC0EEB-DA06-F58C-3435-4A74AEECC0E7}"/>
              </a:ext>
            </a:extLst>
          </p:cNvPr>
          <p:cNvSpPr txBox="1">
            <a:spLocks noGrp="1"/>
          </p:cNvSpPr>
          <p:nvPr>
            <p:ph type="title"/>
          </p:nvPr>
        </p:nvSpPr>
        <p:spPr>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E</a:t>
            </a:r>
            <a:r>
              <a:rPr lang="en-US" sz="3200" b="1" dirty="0">
                <a:latin typeface="Times New Roman" panose="02020603050405020304" pitchFamily="18" charset="0"/>
                <a:cs typeface="Times New Roman" panose="02020603050405020304" pitchFamily="18" charset="0"/>
              </a:rPr>
              <a:t>xisting System</a:t>
            </a:r>
            <a:endParaRPr sz="3200" b="1" dirty="0">
              <a:latin typeface="Times New Roman" panose="02020603050405020304" pitchFamily="18" charset="0"/>
              <a:cs typeface="Times New Roman" panose="02020603050405020304" pitchFamily="18" charset="0"/>
            </a:endParaRPr>
          </a:p>
        </p:txBody>
      </p:sp>
      <p:sp>
        <p:nvSpPr>
          <p:cNvPr id="188" name="Existing image classification models (like Google Vision API, standard datasets such as MNIST or CIFAR-10) provide pre-trained solutions.…">
            <a:extLst>
              <a:ext uri="{FF2B5EF4-FFF2-40B4-BE49-F238E27FC236}">
                <a16:creationId xmlns:a16="http://schemas.microsoft.com/office/drawing/2014/main" id="{F4C60754-74E6-9B37-FBF7-751742EE7FD7}"/>
              </a:ext>
            </a:extLst>
          </p:cNvPr>
          <p:cNvSpPr txBox="1">
            <a:spLocks noGrp="1"/>
          </p:cNvSpPr>
          <p:nvPr>
            <p:ph type="body" idx="21"/>
          </p:nvPr>
        </p:nvSpPr>
        <p:spPr>
          <a:xfrm>
            <a:off x="836612" y="1982916"/>
            <a:ext cx="10518776" cy="21041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pPr marL="217170" indent="-217170" algn="just" defTabSz="868680">
              <a:spcBef>
                <a:spcPts val="900"/>
              </a:spcBef>
              <a:defRPr sz="2200">
                <a:latin typeface="Times New Roman"/>
                <a:ea typeface="Times New Roman"/>
                <a:cs typeface="Times New Roman"/>
                <a:sym typeface="Times New Roman"/>
              </a:defRPr>
            </a:pPr>
            <a:r>
              <a:rPr lang="en-US" sz="2400" dirty="0"/>
              <a:t>The existing spam email classification system primarily uses rule-based filters that rely on predefined rules and keyword matching to detect spam messages.</a:t>
            </a:r>
          </a:p>
          <a:p>
            <a:pPr marL="217170" indent="-217170" algn="just" defTabSz="868680">
              <a:spcBef>
                <a:spcPts val="900"/>
              </a:spcBef>
              <a:defRPr sz="2200">
                <a:latin typeface="Times New Roman"/>
                <a:ea typeface="Times New Roman"/>
                <a:cs typeface="Times New Roman"/>
                <a:sym typeface="Times New Roman"/>
              </a:defRPr>
            </a:pPr>
            <a:r>
              <a:rPr lang="en-US" sz="2400" dirty="0"/>
              <a:t>Emails are filtered based on specific rules set by administrators to classify them as spam or non-spam.</a:t>
            </a:r>
          </a:p>
          <a:p>
            <a:pPr marL="217170" indent="-217170" algn="just" defTabSz="868680">
              <a:spcBef>
                <a:spcPts val="900"/>
              </a:spcBef>
              <a:defRPr sz="2200">
                <a:latin typeface="Times New Roman"/>
                <a:ea typeface="Times New Roman"/>
                <a:cs typeface="Times New Roman"/>
                <a:sym typeface="Times New Roman"/>
              </a:defRPr>
            </a:pPr>
            <a:r>
              <a:rPr lang="en-US" sz="2400" dirty="0"/>
              <a:t>It analyzes the subject line, email body, and sender address to identify suspicious content.</a:t>
            </a: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28</a:t>
            </a:fld>
            <a:endParaRPr lang="en-IN" dirty="0"/>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71626934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BD1AB-2311-1F4D-A427-0C83EAAB28A8}"/>
            </a:ext>
          </a:extLst>
        </p:cNvPr>
        <p:cNvGrpSpPr/>
        <p:nvPr/>
      </p:nvGrpSpPr>
      <p:grpSpPr>
        <a:xfrm>
          <a:off x="0" y="0"/>
          <a:ext cx="0" cy="0"/>
          <a:chOff x="0" y="0"/>
          <a:chExt cx="0" cy="0"/>
        </a:xfrm>
      </p:grpSpPr>
      <p:sp>
        <p:nvSpPr>
          <p:cNvPr id="190" name="Disadvantages:-">
            <a:extLst>
              <a:ext uri="{FF2B5EF4-FFF2-40B4-BE49-F238E27FC236}">
                <a16:creationId xmlns:a16="http://schemas.microsoft.com/office/drawing/2014/main" id="{41C5FB30-BFEB-DB7C-7C6D-D079BA7A2D42}"/>
              </a:ext>
            </a:extLst>
          </p:cNvPr>
          <p:cNvSpPr txBox="1">
            <a:spLocks noGrp="1"/>
          </p:cNvSpPr>
          <p:nvPr>
            <p:ph type="title"/>
          </p:nvPr>
        </p:nvSpPr>
        <p:spPr>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D</a:t>
            </a:r>
            <a:r>
              <a:rPr lang="en-US" sz="3200" b="1" dirty="0">
                <a:latin typeface="Times New Roman" panose="02020603050405020304" pitchFamily="18" charset="0"/>
                <a:cs typeface="Times New Roman" panose="02020603050405020304" pitchFamily="18" charset="0"/>
              </a:rPr>
              <a:t>isadvantages</a:t>
            </a:r>
            <a:endParaRPr sz="3200" b="1" dirty="0">
              <a:latin typeface="Times New Roman" panose="02020603050405020304" pitchFamily="18" charset="0"/>
              <a:cs typeface="Times New Roman" panose="02020603050405020304" pitchFamily="18" charset="0"/>
            </a:endParaRPr>
          </a:p>
        </p:txBody>
      </p:sp>
      <p:sp>
        <p:nvSpPr>
          <p:cNvPr id="191" name="Slide Subtitle">
            <a:extLst>
              <a:ext uri="{FF2B5EF4-FFF2-40B4-BE49-F238E27FC236}">
                <a16:creationId xmlns:a16="http://schemas.microsoft.com/office/drawing/2014/main" id="{EE857D30-5204-D33A-D1B2-69AC513B1BBB}"/>
              </a:ext>
            </a:extLst>
          </p:cNvPr>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a:extLst>
              <a:ext uri="{FF2B5EF4-FFF2-40B4-BE49-F238E27FC236}">
                <a16:creationId xmlns:a16="http://schemas.microsoft.com/office/drawing/2014/main" id="{F18348D3-7CB1-0BF8-33B9-B7038FB4F800}"/>
              </a:ext>
            </a:extLst>
          </p:cNvPr>
          <p:cNvSpPr txBox="1">
            <a:spLocks noGrp="1"/>
          </p:cNvSpPr>
          <p:nvPr>
            <p:ph type="body" idx="21"/>
          </p:nvPr>
        </p:nvSpPr>
        <p:spPr>
          <a:xfrm>
            <a:off x="833437" y="1323694"/>
            <a:ext cx="10518776" cy="277285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sz="2400" dirty="0">
                <a:latin typeface="Times New Roman" panose="02020603050405020304" pitchFamily="18" charset="0"/>
                <a:cs typeface="Times New Roman" panose="02020603050405020304" pitchFamily="18" charset="0"/>
              </a:rPr>
              <a:t>Limited accuracy on custom datasets.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Dependence on public datasets.</a:t>
            </a:r>
            <a:endParaRPr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sz="2400" dirty="0">
                <a:latin typeface="Times New Roman" panose="02020603050405020304" pitchFamily="18" charset="0"/>
                <a:cs typeface="Times New Roman" panose="02020603050405020304" pitchFamily="18" charset="0"/>
              </a:rPr>
              <a:t>Less flexibility.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Many commercial APIs are costly.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 world failure risk</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6764" y="6492875"/>
            <a:ext cx="258624" cy="248305"/>
          </a:xfrm>
        </p:spPr>
        <p:txBody>
          <a:bodyPr/>
          <a:lstStyle/>
          <a:p>
            <a:fld id="{86CB4B4D-7CA3-9044-876B-883B54F8677D}" type="slidenum">
              <a:rPr lang="en-IN" smtClean="0"/>
              <a:t>29</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32109581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BEAC-CF08-AFFF-B522-3F84F3B86C3C}"/>
            </a:ext>
          </a:extLst>
        </p:cNvPr>
        <p:cNvGrpSpPr/>
        <p:nvPr/>
      </p:nvGrpSpPr>
      <p:grpSpPr>
        <a:xfrm>
          <a:off x="0" y="0"/>
          <a:ext cx="0" cy="0"/>
          <a:chOff x="0" y="0"/>
          <a:chExt cx="0" cy="0"/>
        </a:xfrm>
      </p:grpSpPr>
      <p:sp>
        <p:nvSpPr>
          <p:cNvPr id="178" name="Proposal:-">
            <a:extLst>
              <a:ext uri="{FF2B5EF4-FFF2-40B4-BE49-F238E27FC236}">
                <a16:creationId xmlns:a16="http://schemas.microsoft.com/office/drawing/2014/main" id="{F6FAFD1A-1850-C017-67DC-3EC5EDEA3F0D}"/>
              </a:ext>
            </a:extLst>
          </p:cNvPr>
          <p:cNvSpPr txBox="1">
            <a:spLocks noGrp="1"/>
          </p:cNvSpPr>
          <p:nvPr>
            <p:ph type="title"/>
          </p:nvPr>
        </p:nvSpPr>
        <p:spPr>
          <a:xfrm>
            <a:off x="838199" y="0"/>
            <a:ext cx="10515601" cy="1325563"/>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P</a:t>
            </a:r>
            <a:r>
              <a:rPr lang="en-US" sz="3200" b="1" dirty="0">
                <a:latin typeface="Times New Roman" panose="02020603050405020304" pitchFamily="18" charset="0"/>
                <a:cs typeface="Times New Roman" panose="02020603050405020304" pitchFamily="18" charset="0"/>
              </a:rPr>
              <a:t>roposed System</a:t>
            </a:r>
            <a:endParaRPr sz="3200" b="1" dirty="0">
              <a:latin typeface="Times New Roman" panose="02020603050405020304" pitchFamily="18" charset="0"/>
              <a:cs typeface="Times New Roman" panose="02020603050405020304" pitchFamily="18" charset="0"/>
            </a:endParaRPr>
          </a:p>
        </p:txBody>
      </p:sp>
      <p:sp>
        <p:nvSpPr>
          <p:cNvPr id="180" name="Accepts input images from a custom dataset.…">
            <a:extLst>
              <a:ext uri="{FF2B5EF4-FFF2-40B4-BE49-F238E27FC236}">
                <a16:creationId xmlns:a16="http://schemas.microsoft.com/office/drawing/2014/main" id="{5EEFD93B-D7D4-E6D8-9A2F-9D3B695FA01C}"/>
              </a:ext>
            </a:extLst>
          </p:cNvPr>
          <p:cNvSpPr txBox="1">
            <a:spLocks noGrp="1"/>
          </p:cNvSpPr>
          <p:nvPr>
            <p:ph type="body" idx="21"/>
          </p:nvPr>
        </p:nvSpPr>
        <p:spPr>
          <a:xfrm>
            <a:off x="751642" y="857635"/>
            <a:ext cx="10343534" cy="40133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model is based on naive bayes classifier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Works extremely well with text data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Cleans and processes raw email text by removing </a:t>
            </a:r>
            <a:r>
              <a:rPr lang="en-US" sz="2400" dirty="0" err="1">
                <a:latin typeface="Times New Roman" panose="02020603050405020304" pitchFamily="18" charset="0"/>
                <a:cs typeface="Times New Roman" panose="02020603050405020304" pitchFamily="18" charset="0"/>
              </a:rPr>
              <a:t>stopwords</a:t>
            </a:r>
            <a:r>
              <a:rPr lang="en-US" sz="2400" dirty="0">
                <a:latin typeface="Times New Roman" panose="02020603050405020304" pitchFamily="18" charset="0"/>
                <a:cs typeface="Times New Roman" panose="02020603050405020304" pitchFamily="18" charset="0"/>
              </a:rPr>
              <a:t>, punctuation, numbers, and special characters.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Converts email content into a standardized form suitable for analysis.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model is trained on a labeled dataset containing spam and non-spam examples.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learns to identify patterns and word distributions common in spam emails.</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5176" y="6502400"/>
            <a:ext cx="258624" cy="248305"/>
          </a:xfrm>
        </p:spPr>
        <p:txBody>
          <a:bodyPr/>
          <a:lstStyle/>
          <a:p>
            <a:fld id="{86CB4B4D-7CA3-9044-876B-883B54F8677D}" type="slidenum">
              <a:rPr lang="en-IN" smtClean="0"/>
              <a:t>30</a:t>
            </a:fld>
            <a:endParaRPr lang="en-IN"/>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588436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5326-680B-740F-1C22-E58751468CF1}"/>
            </a:ext>
          </a:extLst>
        </p:cNvPr>
        <p:cNvGrpSpPr/>
        <p:nvPr/>
      </p:nvGrpSpPr>
      <p:grpSpPr>
        <a:xfrm>
          <a:off x="0" y="0"/>
          <a:ext cx="0" cy="0"/>
          <a:chOff x="0" y="0"/>
          <a:chExt cx="0" cy="0"/>
        </a:xfrm>
      </p:grpSpPr>
      <p:sp>
        <p:nvSpPr>
          <p:cNvPr id="182" name="Advantages:-">
            <a:extLst>
              <a:ext uri="{FF2B5EF4-FFF2-40B4-BE49-F238E27FC236}">
                <a16:creationId xmlns:a16="http://schemas.microsoft.com/office/drawing/2014/main" id="{1E2A11F0-CA11-50B3-627A-CFC51E35C7CA}"/>
              </a:ext>
            </a:extLst>
          </p:cNvPr>
          <p:cNvSpPr txBox="1">
            <a:spLocks noGrp="1"/>
          </p:cNvSpPr>
          <p:nvPr>
            <p:ph type="title"/>
          </p:nvPr>
        </p:nvSpPr>
        <p:spPr>
          <a:xfrm>
            <a:off x="838199" y="188145"/>
            <a:ext cx="10515601" cy="952398"/>
          </a:xfrm>
          <a:prstGeom prst="rect">
            <a:avLst/>
          </a:prstGeom>
        </p:spPr>
        <p:txBody>
          <a:bodyPr>
            <a:normAutofit/>
          </a:bodyPr>
          <a:lstStyle>
            <a:lvl1pPr>
              <a:defRPr spc="-200"/>
            </a:lvl1pPr>
          </a:lstStyle>
          <a:p>
            <a:pPr algn="ctr"/>
            <a:r>
              <a:rPr sz="3200" b="1" dirty="0">
                <a:latin typeface="Times New Roman" panose="02020603050405020304" pitchFamily="18" charset="0"/>
                <a:cs typeface="Times New Roman" panose="02020603050405020304" pitchFamily="18" charset="0"/>
              </a:rPr>
              <a:t>A</a:t>
            </a:r>
            <a:r>
              <a:rPr lang="en-US" sz="3200" b="1" dirty="0">
                <a:latin typeface="Times New Roman" panose="02020603050405020304" pitchFamily="18" charset="0"/>
                <a:cs typeface="Times New Roman" panose="02020603050405020304" pitchFamily="18" charset="0"/>
              </a:rPr>
              <a:t>dvantages</a:t>
            </a:r>
            <a:endParaRPr sz="3200" b="1" dirty="0">
              <a:latin typeface="Times New Roman" panose="02020603050405020304" pitchFamily="18" charset="0"/>
              <a:cs typeface="Times New Roman" panose="02020603050405020304" pitchFamily="18" charset="0"/>
            </a:endParaRPr>
          </a:p>
        </p:txBody>
      </p:sp>
      <p:sp>
        <p:nvSpPr>
          <p:cNvPr id="183" name="Slide Subtitle">
            <a:extLst>
              <a:ext uri="{FF2B5EF4-FFF2-40B4-BE49-F238E27FC236}">
                <a16:creationId xmlns:a16="http://schemas.microsoft.com/office/drawing/2014/main" id="{F924CD93-B940-35E9-36F4-FDFF95B69F14}"/>
              </a:ext>
            </a:extLst>
          </p:cNvPr>
          <p:cNvSpPr txBox="1">
            <a:spLocks noGrp="1"/>
          </p:cNvSpPr>
          <p:nvPr>
            <p:ph type="body" sz="quarter" idx="1"/>
          </p:nvPr>
        </p:nvSpPr>
        <p:spPr>
          <a:xfrm>
            <a:off x="1927216" y="-1231196"/>
            <a:ext cx="10985502" cy="467390"/>
          </a:xfrm>
          <a:prstGeom prst="rect">
            <a:avLst/>
          </a:prstGeom>
        </p:spPr>
        <p:txBody>
          <a:bodyPr/>
          <a:lstStyle/>
          <a:p>
            <a:endParaRPr/>
          </a:p>
        </p:txBody>
      </p:sp>
      <p:sp>
        <p:nvSpPr>
          <p:cNvPr id="184" name="Accepts input images from a custom dataset.…">
            <a:extLst>
              <a:ext uri="{FF2B5EF4-FFF2-40B4-BE49-F238E27FC236}">
                <a16:creationId xmlns:a16="http://schemas.microsoft.com/office/drawing/2014/main" id="{8A78F0E6-CF26-F1A5-A0A8-BBA5BD3743EA}"/>
              </a:ext>
            </a:extLst>
          </p:cNvPr>
          <p:cNvSpPr txBox="1">
            <a:spLocks noGrp="1"/>
          </p:cNvSpPr>
          <p:nvPr>
            <p:ph type="body" idx="21"/>
          </p:nvPr>
        </p:nvSpPr>
        <p:spPr>
          <a:xfrm>
            <a:off x="721237" y="532475"/>
            <a:ext cx="10985500" cy="289652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effort in filtering spam emails.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inbox management and user productivity.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Adapts to changing spam trends through retraining.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high accuracy using AI-based algorithms.</a:t>
            </a:r>
            <a:endParaRPr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2"/>
          </p:nvPr>
        </p:nvSpPr>
        <p:spPr>
          <a:xfrm>
            <a:off x="11095176" y="6502400"/>
            <a:ext cx="258624" cy="248305"/>
          </a:xfrm>
        </p:spPr>
        <p:txBody>
          <a:bodyPr/>
          <a:lstStyle/>
          <a:p>
            <a:fld id="{86CB4B4D-7CA3-9044-876B-883B54F8677D}" type="slidenum">
              <a:rPr lang="en-IN" smtClean="0"/>
              <a:t>31</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203043340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81C8-E8EA-C903-3AB8-A98601EF1BB4}"/>
              </a:ext>
            </a:extLst>
          </p:cNvPr>
          <p:cNvSpPr>
            <a:spLocks noGrp="1"/>
          </p:cNvSpPr>
          <p:nvPr>
            <p:ph type="title"/>
          </p:nvPr>
        </p:nvSpPr>
        <p:spPr>
          <a:xfrm>
            <a:off x="838200" y="107661"/>
            <a:ext cx="10515600" cy="736311"/>
          </a:xfrm>
        </p:spPr>
        <p:txBody>
          <a:bodyPr>
            <a:normAutofit/>
          </a:bodyPr>
          <a:lstStyle/>
          <a:p>
            <a:pPr algn="ctr"/>
            <a:r>
              <a:rPr lang="en-IN" sz="3200" b="1" dirty="0">
                <a:latin typeface="Times New Roman" panose="02020603050405020304" pitchFamily="18" charset="0"/>
                <a:cs typeface="Times New Roman" panose="02020603050405020304" pitchFamily="18" charset="0"/>
              </a:rPr>
              <a:t>Source Code</a:t>
            </a:r>
          </a:p>
        </p:txBody>
      </p:sp>
      <p:pic>
        <p:nvPicPr>
          <p:cNvPr id="4" name="Picture 3">
            <a:extLst>
              <a:ext uri="{FF2B5EF4-FFF2-40B4-BE49-F238E27FC236}">
                <a16:creationId xmlns:a16="http://schemas.microsoft.com/office/drawing/2014/main" id="{2B1A2165-AD18-7A0F-AA7A-03C979E2F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22" y="843972"/>
            <a:ext cx="10776155" cy="5488002"/>
          </a:xfrm>
          <a:prstGeom prst="rect">
            <a:avLst/>
          </a:prstGeom>
        </p:spPr>
      </p:pic>
      <p:sp>
        <p:nvSpPr>
          <p:cNvPr id="3" name="Slide Number Placeholder 2"/>
          <p:cNvSpPr>
            <a:spLocks noGrp="1"/>
          </p:cNvSpPr>
          <p:nvPr>
            <p:ph type="sldNum" sz="quarter" idx="2"/>
          </p:nvPr>
        </p:nvSpPr>
        <p:spPr>
          <a:xfrm>
            <a:off x="11095176" y="6456516"/>
            <a:ext cx="258624" cy="248305"/>
          </a:xfrm>
        </p:spPr>
        <p:txBody>
          <a:bodyPr/>
          <a:lstStyle/>
          <a:p>
            <a:fld id="{86CB4B4D-7CA3-9044-876B-883B54F8677D}" type="slidenum">
              <a:rPr lang="en-IN" smtClean="0"/>
              <a:t>32</a:t>
            </a:fld>
            <a:endParaRPr lang="en-IN" dirty="0"/>
          </a:p>
        </p:txBody>
      </p:sp>
      <p:sp>
        <p:nvSpPr>
          <p:cNvPr id="5"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418607519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75B5-543C-7692-157C-217E861CD6F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5BA5D34-9819-FCDA-3693-B06AF8AC314F}"/>
              </a:ext>
            </a:extLst>
          </p:cNvPr>
          <p:cNvSpPr>
            <a:spLocks noGrp="1"/>
          </p:cNvSpPr>
          <p:nvPr>
            <p:ph type="body" sz="quarter" idx="1"/>
          </p:nvPr>
        </p:nvSpPr>
        <p:spPr/>
        <p:txBody>
          <a:bodyPr/>
          <a:lstStyle/>
          <a:p>
            <a:endParaRPr lang="en-IN"/>
          </a:p>
        </p:txBody>
      </p:sp>
      <p:sp>
        <p:nvSpPr>
          <p:cNvPr id="4" name="Text Placeholder 3">
            <a:extLst>
              <a:ext uri="{FF2B5EF4-FFF2-40B4-BE49-F238E27FC236}">
                <a16:creationId xmlns:a16="http://schemas.microsoft.com/office/drawing/2014/main" id="{936CB674-A1A3-EEDA-D255-EBE2DDA00785}"/>
              </a:ext>
            </a:extLst>
          </p:cNvPr>
          <p:cNvSpPr>
            <a:spLocks noGrp="1"/>
          </p:cNvSpPr>
          <p:nvPr>
            <p:ph type="body" sz="quarter" idx="21"/>
          </p:nvPr>
        </p:nvSpPr>
        <p:spPr/>
        <p:txBody>
          <a:bodyPr/>
          <a:lstStyle/>
          <a:p>
            <a:endParaRPr lang="en-IN"/>
          </a:p>
        </p:txBody>
      </p:sp>
      <p:pic>
        <p:nvPicPr>
          <p:cNvPr id="6" name="Picture 5">
            <a:extLst>
              <a:ext uri="{FF2B5EF4-FFF2-40B4-BE49-F238E27FC236}">
                <a16:creationId xmlns:a16="http://schemas.microsoft.com/office/drawing/2014/main" id="{41B2094F-DC08-B68F-5FEA-7F4F77B979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916" y="285136"/>
            <a:ext cx="10746658" cy="5907846"/>
          </a:xfrm>
          <a:prstGeom prst="rect">
            <a:avLst/>
          </a:prstGeom>
        </p:spPr>
      </p:pic>
      <p:sp>
        <p:nvSpPr>
          <p:cNvPr id="5" name="Slide Number Placeholder 4"/>
          <p:cNvSpPr>
            <a:spLocks noGrp="1"/>
          </p:cNvSpPr>
          <p:nvPr>
            <p:ph type="sldNum" sz="quarter" idx="2"/>
          </p:nvPr>
        </p:nvSpPr>
        <p:spPr>
          <a:xfrm>
            <a:off x="11096764" y="6476022"/>
            <a:ext cx="258624" cy="248305"/>
          </a:xfrm>
        </p:spPr>
        <p:txBody>
          <a:bodyPr/>
          <a:lstStyle/>
          <a:p>
            <a:fld id="{86CB4B4D-7CA3-9044-876B-883B54F8677D}" type="slidenum">
              <a:rPr lang="en-IN" smtClean="0"/>
              <a:t>33</a:t>
            </a:fld>
            <a:endParaRPr lang="en-IN" dirty="0"/>
          </a:p>
        </p:txBody>
      </p:sp>
      <p:sp>
        <p:nvSpPr>
          <p:cNvPr id="7"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395344143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B95E465-BD5F-A697-C677-B82D75441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1258529"/>
            <a:ext cx="6858000" cy="3957707"/>
          </a:xfrm>
          <a:prstGeom prst="rect">
            <a:avLst/>
          </a:prstGeom>
        </p:spPr>
      </p:pic>
      <p:sp>
        <p:nvSpPr>
          <p:cNvPr id="7" name="TextBox 6">
            <a:extLst>
              <a:ext uri="{FF2B5EF4-FFF2-40B4-BE49-F238E27FC236}">
                <a16:creationId xmlns:a16="http://schemas.microsoft.com/office/drawing/2014/main" id="{7B802230-FE72-EC41-6889-B7E3A5B56D6C}"/>
              </a:ext>
            </a:extLst>
          </p:cNvPr>
          <p:cNvSpPr txBox="1"/>
          <p:nvPr/>
        </p:nvSpPr>
        <p:spPr>
          <a:xfrm>
            <a:off x="2900516" y="353611"/>
            <a:ext cx="5781367"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Output</a:t>
            </a:r>
            <a:endParaRPr kumimoji="0" lang="en-IN" sz="3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2" name="TextBox 1">
            <a:extLst>
              <a:ext uri="{FF2B5EF4-FFF2-40B4-BE49-F238E27FC236}">
                <a16:creationId xmlns:a16="http://schemas.microsoft.com/office/drawing/2014/main" id="{640D8114-27BE-C99C-4941-24350EA9268D}"/>
              </a:ext>
            </a:extLst>
          </p:cNvPr>
          <p:cNvSpPr txBox="1"/>
          <p:nvPr/>
        </p:nvSpPr>
        <p:spPr>
          <a:xfrm>
            <a:off x="4312226" y="5135819"/>
            <a:ext cx="4831773"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IN" sz="2000" b="1" dirty="0">
                <a:latin typeface="Times New Roman" panose="02020603050405020304" pitchFamily="18" charset="0"/>
                <a:cs typeface="Times New Roman" panose="02020603050405020304" pitchFamily="18" charset="0"/>
              </a:rPr>
              <a:t>Fig</a:t>
            </a:r>
            <a:r>
              <a:rPr lang="en-IN" sz="24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Spam email classifier</a:t>
            </a:r>
            <a:endParaRPr kumimoji="0" lang="en-IN" sz="1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3" name="Slide Number Placeholder 2"/>
          <p:cNvSpPr>
            <a:spLocks noGrp="1"/>
          </p:cNvSpPr>
          <p:nvPr>
            <p:ph type="sldNum" sz="quarter" idx="2"/>
          </p:nvPr>
        </p:nvSpPr>
        <p:spPr>
          <a:xfrm>
            <a:off x="11095176" y="6502400"/>
            <a:ext cx="258624" cy="248305"/>
          </a:xfrm>
        </p:spPr>
        <p:txBody>
          <a:bodyPr/>
          <a:lstStyle/>
          <a:p>
            <a:fld id="{86CB4B4D-7CA3-9044-876B-883B54F8677D}" type="slidenum">
              <a:rPr lang="en-IN" smtClean="0"/>
              <a:t>34</a:t>
            </a:fld>
            <a:endParaRPr lang="en-IN" dirty="0"/>
          </a:p>
        </p:txBody>
      </p:sp>
      <p:sp>
        <p:nvSpPr>
          <p:cNvPr id="8"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132652205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33D89-CFA3-0D4A-7913-E261940C3FB3}"/>
            </a:ext>
          </a:extLst>
        </p:cNvPr>
        <p:cNvGrpSpPr/>
        <p:nvPr/>
      </p:nvGrpSpPr>
      <p:grpSpPr>
        <a:xfrm>
          <a:off x="0" y="0"/>
          <a:ext cx="0" cy="0"/>
          <a:chOff x="0" y="0"/>
          <a:chExt cx="0" cy="0"/>
        </a:xfrm>
      </p:grpSpPr>
      <p:sp>
        <p:nvSpPr>
          <p:cNvPr id="190" name="Disadvantages:-">
            <a:extLst>
              <a:ext uri="{FF2B5EF4-FFF2-40B4-BE49-F238E27FC236}">
                <a16:creationId xmlns:a16="http://schemas.microsoft.com/office/drawing/2014/main" id="{4EDD8B1E-E1D0-3DCE-B038-66055FA2F80A}"/>
              </a:ext>
            </a:extLst>
          </p:cNvPr>
          <p:cNvSpPr txBox="1">
            <a:spLocks noGrp="1"/>
          </p:cNvSpPr>
          <p:nvPr>
            <p:ph type="title"/>
          </p:nvPr>
        </p:nvSpPr>
        <p:spPr>
          <a:prstGeom prst="rect">
            <a:avLst/>
          </a:prstGeom>
        </p:spPr>
        <p:txBody>
          <a:bodyPr>
            <a:normAutofit/>
          </a:bodyPr>
          <a:lstStyle>
            <a:lvl1pPr>
              <a:defRPr spc="-200"/>
            </a:lvl1pPr>
          </a:lstStyle>
          <a:p>
            <a:pPr algn="ctr"/>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191" name="Slide Subtitle">
            <a:extLst>
              <a:ext uri="{FF2B5EF4-FFF2-40B4-BE49-F238E27FC236}">
                <a16:creationId xmlns:a16="http://schemas.microsoft.com/office/drawing/2014/main" id="{43E0D3D8-1E04-0818-EDC0-3D2812EE8735}"/>
              </a:ext>
            </a:extLst>
          </p:cNvPr>
          <p:cNvSpPr txBox="1">
            <a:spLocks noGrp="1"/>
          </p:cNvSpPr>
          <p:nvPr>
            <p:ph type="body" sz="quarter" idx="1"/>
          </p:nvPr>
        </p:nvSpPr>
        <p:spPr>
          <a:xfrm>
            <a:off x="1121324" y="-1093043"/>
            <a:ext cx="10985501" cy="467390"/>
          </a:xfrm>
          <a:prstGeom prst="rect">
            <a:avLst/>
          </a:prstGeom>
        </p:spPr>
        <p:txBody>
          <a:bodyPr/>
          <a:lstStyle/>
          <a:p>
            <a:endParaRPr/>
          </a:p>
        </p:txBody>
      </p:sp>
      <p:sp>
        <p:nvSpPr>
          <p:cNvPr id="192" name="Limited accuracy on domain-specific/custom datasets.…">
            <a:extLst>
              <a:ext uri="{FF2B5EF4-FFF2-40B4-BE49-F238E27FC236}">
                <a16:creationId xmlns:a16="http://schemas.microsoft.com/office/drawing/2014/main" id="{3D093452-E015-423D-F9BC-8508D8E9AC42}"/>
              </a:ext>
            </a:extLst>
          </p:cNvPr>
          <p:cNvSpPr txBox="1">
            <a:spLocks noGrp="1"/>
          </p:cNvSpPr>
          <p:nvPr>
            <p:ph type="body" idx="21"/>
          </p:nvPr>
        </p:nvSpPr>
        <p:spPr>
          <a:xfrm>
            <a:off x="833437" y="0"/>
            <a:ext cx="10518776" cy="345158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foundational understanding of its core concepts, subfields, and applications is essential for anyone seeking to explore or work within this domain.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AI domain encompasses algorithms that define problem-solving logic, models that represent knowledge and patterns, and modules that implement specialized functions within AI systems.</a:t>
            </a:r>
          </a:p>
        </p:txBody>
      </p:sp>
      <p:sp>
        <p:nvSpPr>
          <p:cNvPr id="2" name="Slide Number Placeholder 1"/>
          <p:cNvSpPr>
            <a:spLocks noGrp="1"/>
          </p:cNvSpPr>
          <p:nvPr>
            <p:ph type="sldNum" sz="quarter" idx="2"/>
          </p:nvPr>
        </p:nvSpPr>
        <p:spPr>
          <a:xfrm>
            <a:off x="11093589" y="6502400"/>
            <a:ext cx="258624" cy="248305"/>
          </a:xfrm>
        </p:spPr>
        <p:txBody>
          <a:bodyPr/>
          <a:lstStyle/>
          <a:p>
            <a:fld id="{86CB4B4D-7CA3-9044-876B-883B54F8677D}" type="slidenum">
              <a:rPr lang="en-IN" smtClean="0"/>
              <a:t>35</a:t>
            </a:fld>
            <a:endParaRPr lang="en-IN" dirty="0"/>
          </a:p>
        </p:txBody>
      </p:sp>
      <p:sp>
        <p:nvSpPr>
          <p:cNvPr id="6"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extLst>
      <p:ext uri="{BB962C8B-B14F-4D97-AF65-F5344CB8AC3E}">
        <p14:creationId xmlns:p14="http://schemas.microsoft.com/office/powerpoint/2010/main" val="401142906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
          <p:cNvSpPr txBox="1"/>
          <p:nvPr/>
        </p:nvSpPr>
        <p:spPr>
          <a:xfrm>
            <a:off x="45719" y="2733368"/>
            <a:ext cx="12100561"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endParaRPr dirty="0"/>
          </a:p>
          <a:p>
            <a:pPr algn="ctr">
              <a:defRPr sz="3600" b="1">
                <a:latin typeface="Times New Roman"/>
                <a:ea typeface="Times New Roman"/>
                <a:cs typeface="Times New Roman"/>
                <a:sym typeface="Times New Roman"/>
              </a:defRPr>
            </a:pPr>
            <a:r>
              <a:rPr dirty="0"/>
              <a:t>Thank You</a:t>
            </a:r>
          </a:p>
        </p:txBody>
      </p:sp>
      <p:sp>
        <p:nvSpPr>
          <p:cNvPr id="2" name="Slide Number Placeholder 1"/>
          <p:cNvSpPr>
            <a:spLocks noGrp="1"/>
          </p:cNvSpPr>
          <p:nvPr>
            <p:ph type="sldNum" sz="quarter" idx="2"/>
          </p:nvPr>
        </p:nvSpPr>
        <p:spPr>
          <a:xfrm>
            <a:off x="11107581" y="6488053"/>
            <a:ext cx="246219" cy="276999"/>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36</a:t>
            </a:fld>
            <a:endParaRPr lang="en-IN" dirty="0">
              <a:latin typeface="Times New Roman" panose="02020603050405020304" pitchFamily="18" charset="0"/>
              <a:cs typeface="Times New Roman" panose="02020603050405020304" pitchFamily="18" charset="0"/>
            </a:endParaRPr>
          </a:p>
        </p:txBody>
      </p:sp>
      <p:sp>
        <p:nvSpPr>
          <p:cNvPr id="4" name="Google Shape;95;p13"/>
          <p:cNvSpPr txBox="1"/>
          <p:nvPr/>
        </p:nvSpPr>
        <p:spPr>
          <a:xfrm>
            <a:off x="228600" y="6502400"/>
            <a:ext cx="8874760"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595959"/>
                </a:solidFill>
                <a:latin typeface="Times New Roman"/>
                <a:ea typeface="Times New Roman"/>
                <a:cs typeface="Times New Roman"/>
                <a:sym typeface="Times New Roman"/>
              </a:rPr>
              <a:t>Artificial Intelligence		                                                            03/11/2025 				                                        								                                                                                                                                                   		                                                                   </a:t>
            </a:r>
            <a:endParaRPr dirty="0"/>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601</TotalTime>
  <Words>2266</Words>
  <Application>Microsoft Office PowerPoint</Application>
  <PresentationFormat>Widescreen</PresentationFormat>
  <Paragraphs>218</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Times New Roman</vt:lpstr>
      <vt:lpstr>Wingdings</vt:lpstr>
      <vt:lpstr>Office Theme</vt:lpstr>
      <vt:lpstr>PowerPoint Presentation</vt:lpstr>
      <vt:lpstr>Content</vt:lpstr>
      <vt:lpstr>Internship Details</vt:lpstr>
      <vt:lpstr>Company Details</vt:lpstr>
      <vt:lpstr>Introduction to domain</vt:lpstr>
      <vt:lpstr>PowerPoint Presentation</vt:lpstr>
      <vt:lpstr>List of tasks</vt:lpstr>
      <vt:lpstr>                                                               TASK 1</vt:lpstr>
      <vt:lpstr>Abstract</vt:lpstr>
      <vt:lpstr>Existing System</vt:lpstr>
      <vt:lpstr>Disadvantages</vt:lpstr>
      <vt:lpstr>Proposed System</vt:lpstr>
      <vt:lpstr>Advantages</vt:lpstr>
      <vt:lpstr>Source Code</vt:lpstr>
      <vt:lpstr>PowerPoint Presentation</vt:lpstr>
      <vt:lpstr>PowerPoint Presentation</vt:lpstr>
      <vt:lpstr>                                                              TASK 2</vt:lpstr>
      <vt:lpstr>Abstract</vt:lpstr>
      <vt:lpstr>Existing System</vt:lpstr>
      <vt:lpstr>Disadvantages</vt:lpstr>
      <vt:lpstr>Proposed System</vt:lpstr>
      <vt:lpstr>Advantages</vt:lpstr>
      <vt:lpstr>Source Code</vt:lpstr>
      <vt:lpstr>PowerPoint Presentation</vt:lpstr>
      <vt:lpstr>PowerPoint Presentation</vt:lpstr>
      <vt:lpstr>                                                                TASK 3</vt:lpstr>
      <vt:lpstr>Abstract</vt:lpstr>
      <vt:lpstr>Existing System</vt:lpstr>
      <vt:lpstr>Disadvantages</vt:lpstr>
      <vt:lpstr>Proposed System</vt:lpstr>
      <vt:lpstr>Advantages</vt:lpstr>
      <vt:lpstr>Source Code</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HEMESH M</dc:creator>
  <cp:lastModifiedBy>HEMESH M</cp:lastModifiedBy>
  <cp:revision>41</cp:revision>
  <dcterms:modified xsi:type="dcterms:W3CDTF">2025-11-01T14:51:50Z</dcterms:modified>
</cp:coreProperties>
</file>